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5"/>
  </p:normalViewPr>
  <p:slideViewPr>
    <p:cSldViewPr snapToGrid="0" snapToObjects="1">
      <p:cViewPr varScale="1">
        <p:scale>
          <a:sx n="119" d="100"/>
          <a:sy n="119" d="100"/>
        </p:scale>
        <p:origin x="85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16284F-EA3F-BB48-8A3F-6501D229319D}" type="datetimeFigureOut">
              <a:rPr lang="en-US" smtClean="0"/>
              <a:t>9/18/26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0815DE-F2CD-E84F-96D5-B83C09609675}" type="slidenum">
              <a:rPr lang="en-US" smtClean="0"/>
              <a:t>‹#›</a:t>
            </a:fld>
            <a:endParaRPr lang="en-US"/>
          </a:p>
        </p:txBody>
      </p:sp>
    </p:spTree>
    <p:extLst>
      <p:ext uri="{BB962C8B-B14F-4D97-AF65-F5344CB8AC3E}">
        <p14:creationId xmlns:p14="http://schemas.microsoft.com/office/powerpoint/2010/main" val="2991803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t>In 1994 you sat at a browser and met a machine you had never seen. Then you typed your credit card into it. That took trust, and trust needed machinery. RSA and Verisign built it from three parts: a domain name, an SSL certificate carrying that name in its CN or SAN field, and DNS tying the two together. It worked. And it ran one way — you checked the machine, and the machine never checked you.</a:t>
            </a:r>
          </a:p>
          <a:p>
            <a:endParaRPr/>
          </a:p>
          <a:p>
            <a:r>
              <a:t>That pattern has flipped. Tonight your agent calls another machine, and an hour later that machine calls yours. The client becomes the server. Either side can ask who the other is and demand proof. The one-sided machinery of 1994 does not cover that. ANS v2 was built for it: identity both sides can check, anchored in the same DNS the web already trusts.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640080"/>
            <a:ext cx="10545775" cy="1868588"/>
          </a:xfrm>
          <a:prstGeom prst="rect">
            <a:avLst/>
          </a:prstGeom>
          <a:noFill/>
        </p:spPr>
        <p:txBody>
          <a:bodyPr wrap="square">
            <a:spAutoFit/>
          </a:bodyPr>
          <a:lstStyle/>
          <a:p>
            <a:pPr>
              <a:lnSpc>
                <a:spcPct val="105000"/>
              </a:lnSpc>
              <a:spcAft>
                <a:spcPts val="1800"/>
              </a:spcAft>
            </a:pPr>
            <a:r>
              <a:rPr sz="6400" b="1" dirty="0">
                <a:solidFill>
                  <a:srgbClr val="FFFFFF"/>
                </a:solidFill>
                <a:latin typeface="Arial"/>
              </a:rPr>
              <a:t>Best Use of ANS</a:t>
            </a:r>
          </a:p>
          <a:p>
            <a:pPr>
              <a:lnSpc>
                <a:spcPct val="105000"/>
              </a:lnSpc>
              <a:spcAft>
                <a:spcPts val="0"/>
              </a:spcAft>
            </a:pPr>
            <a:r>
              <a:rPr sz="3400" b="0" dirty="0">
                <a:solidFill>
                  <a:srgbClr val="2DD3B8"/>
                </a:solidFill>
                <a:latin typeface="Arial"/>
              </a:rPr>
              <a:t>Build</a:t>
            </a:r>
            <a:r>
              <a:rPr lang="en-US" sz="3400" b="0" dirty="0">
                <a:solidFill>
                  <a:srgbClr val="2DD3B8"/>
                </a:solidFill>
                <a:latin typeface="Arial"/>
              </a:rPr>
              <a:t> interoperable</a:t>
            </a:r>
            <a:r>
              <a:rPr sz="3400" b="0" dirty="0">
                <a:solidFill>
                  <a:srgbClr val="2DD3B8"/>
                </a:solidFill>
                <a:latin typeface="Arial"/>
              </a:rPr>
              <a:t> agents strangers can trust.</a:t>
            </a:r>
          </a:p>
        </p:txBody>
      </p:sp>
      <p:sp>
        <p:nvSpPr>
          <p:cNvPr id="4" name="TextBox 3"/>
          <p:cNvSpPr txBox="1"/>
          <p:nvPr/>
        </p:nvSpPr>
        <p:spPr>
          <a:xfrm>
            <a:off x="822960" y="5989320"/>
            <a:ext cx="10545775" cy="548640"/>
          </a:xfrm>
          <a:prstGeom prst="rect">
            <a:avLst/>
          </a:prstGeom>
          <a:noFill/>
        </p:spPr>
        <p:txBody>
          <a:bodyPr wrap="square">
            <a:spAutoFit/>
          </a:bodyPr>
          <a:lstStyle/>
          <a:p>
            <a:pPr>
              <a:lnSpc>
                <a:spcPct val="105000"/>
              </a:lnSpc>
              <a:spcAft>
                <a:spcPts val="1400"/>
              </a:spcAft>
            </a:pPr>
            <a:r>
              <a:rPr sz="1400" b="0">
                <a:solidFill>
                  <a:srgbClr val="8A9B98"/>
                </a:solidFill>
                <a:latin typeface="Arial"/>
              </a:rPr>
              <a:t>GoDaddy  ·  VTHacks 14  ·  Workshop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45775" cy="1828800"/>
          </a:xfrm>
          <a:prstGeom prst="rect">
            <a:avLst/>
          </a:prstGeom>
          <a:noFill/>
        </p:spPr>
        <p:txBody>
          <a:bodyPr wrap="square">
            <a:spAutoFit/>
          </a:bodyPr>
          <a:lstStyle/>
          <a:p>
            <a:pPr>
              <a:lnSpc>
                <a:spcPct val="105000"/>
              </a:lnSpc>
              <a:spcAft>
                <a:spcPts val="1400"/>
              </a:spcAft>
            </a:pPr>
            <a:r>
              <a:rPr sz="5400" b="1">
                <a:solidFill>
                  <a:srgbClr val="FFFFFF"/>
                </a:solidFill>
                <a:latin typeface="Arial"/>
              </a:rPr>
              <a:t>We have been here before.</a:t>
            </a:r>
          </a:p>
        </p:txBody>
      </p:sp>
      <p:sp>
        <p:nvSpPr>
          <p:cNvPr id="4" name="TextBox 3"/>
          <p:cNvSpPr txBox="1"/>
          <p:nvPr/>
        </p:nvSpPr>
        <p:spPr>
          <a:xfrm>
            <a:off x="822960" y="2148840"/>
            <a:ext cx="10545775" cy="4228978"/>
          </a:xfrm>
          <a:prstGeom prst="rect">
            <a:avLst/>
          </a:prstGeom>
          <a:noFill/>
        </p:spPr>
        <p:txBody>
          <a:bodyPr wrap="square">
            <a:spAutoFit/>
          </a:bodyPr>
          <a:lstStyle/>
          <a:p>
            <a:pPr>
              <a:lnSpc>
                <a:spcPct val="105000"/>
              </a:lnSpc>
              <a:spcAft>
                <a:spcPts val="1000"/>
              </a:spcAft>
            </a:pPr>
            <a:r>
              <a:rPr sz="2600" b="0" dirty="0">
                <a:solidFill>
                  <a:srgbClr val="E8F0EE"/>
                </a:solidFill>
                <a:latin typeface="Arial"/>
              </a:rPr>
              <a:t>In 1994, a person met a machine they had never seen and asked: do I trust it?</a:t>
            </a:r>
          </a:p>
          <a:p>
            <a:pPr>
              <a:lnSpc>
                <a:spcPct val="105000"/>
              </a:lnSpc>
              <a:spcAft>
                <a:spcPts val="1000"/>
              </a:spcAft>
            </a:pPr>
            <a:r>
              <a:rPr sz="2600" b="0" dirty="0">
                <a:solidFill>
                  <a:srgbClr val="E8F0EE"/>
                </a:solidFill>
                <a:latin typeface="Arial"/>
              </a:rPr>
              <a:t>RSA </a:t>
            </a:r>
            <a:r>
              <a:rPr lang="en-US" sz="2600" b="0" dirty="0">
                <a:solidFill>
                  <a:srgbClr val="E8F0EE"/>
                </a:solidFill>
                <a:latin typeface="Arial"/>
              </a:rPr>
              <a:t>and</a:t>
            </a:r>
            <a:r>
              <a:rPr sz="2600" b="0" dirty="0">
                <a:solidFill>
                  <a:srgbClr val="E8F0EE"/>
                </a:solidFill>
                <a:latin typeface="Arial"/>
              </a:rPr>
              <a:t> Verisign answered with three parts: a domain, an SSL certificate carrying that name in its CN or SAN field, and DNS tying the two together.</a:t>
            </a:r>
          </a:p>
          <a:p>
            <a:pPr>
              <a:lnSpc>
                <a:spcPct val="105000"/>
              </a:lnSpc>
              <a:spcAft>
                <a:spcPts val="1000"/>
              </a:spcAft>
            </a:pPr>
            <a:r>
              <a:rPr sz="2600" b="0" dirty="0">
                <a:solidFill>
                  <a:srgbClr val="E8F0EE"/>
                </a:solidFill>
                <a:latin typeface="Arial"/>
              </a:rPr>
              <a:t>The check </a:t>
            </a:r>
            <a:r>
              <a:rPr lang="en-US" sz="2600" b="0" dirty="0">
                <a:solidFill>
                  <a:srgbClr val="E8F0EE"/>
                </a:solidFill>
                <a:latin typeface="Arial"/>
              </a:rPr>
              <a:t>runs</a:t>
            </a:r>
            <a:r>
              <a:rPr sz="2600" b="0" dirty="0">
                <a:solidFill>
                  <a:srgbClr val="E8F0EE"/>
                </a:solidFill>
                <a:latin typeface="Arial"/>
              </a:rPr>
              <a:t> one way. The person verified the machine.</a:t>
            </a:r>
          </a:p>
          <a:p>
            <a:pPr>
              <a:lnSpc>
                <a:spcPct val="105000"/>
              </a:lnSpc>
              <a:spcAft>
                <a:spcPts val="1000"/>
              </a:spcAft>
            </a:pPr>
            <a:r>
              <a:rPr sz="2600" b="1" dirty="0">
                <a:solidFill>
                  <a:srgbClr val="2DD3B8"/>
                </a:solidFill>
                <a:latin typeface="Arial"/>
              </a:rPr>
              <a:t>Now machines </a:t>
            </a:r>
            <a:r>
              <a:rPr lang="en-US" sz="2600" b="1" dirty="0">
                <a:solidFill>
                  <a:srgbClr val="2DD3B8"/>
                </a:solidFill>
                <a:latin typeface="Arial"/>
              </a:rPr>
              <a:t>discover</a:t>
            </a:r>
            <a:r>
              <a:rPr sz="2600" b="1" dirty="0">
                <a:solidFill>
                  <a:srgbClr val="2DD3B8"/>
                </a:solidFill>
                <a:latin typeface="Arial"/>
              </a:rPr>
              <a:t> machines over the open internet. The client can become the server, and either side can demand proof. </a:t>
            </a:r>
            <a:r>
              <a:rPr lang="en-US" sz="2600" b="1" dirty="0">
                <a:solidFill>
                  <a:srgbClr val="2DD3B8"/>
                </a:solidFill>
                <a:latin typeface="Arial"/>
              </a:rPr>
              <a:t>ANS v2 was built for it.</a:t>
            </a:r>
            <a:endParaRPr sz="2600" b="1" dirty="0">
              <a:solidFill>
                <a:srgbClr val="2DD3B8"/>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45775" cy="1828800"/>
          </a:xfrm>
          <a:prstGeom prst="rect">
            <a:avLst/>
          </a:prstGeom>
          <a:noFill/>
        </p:spPr>
        <p:txBody>
          <a:bodyPr wrap="square">
            <a:spAutoFit/>
          </a:bodyPr>
          <a:lstStyle/>
          <a:p>
            <a:pPr>
              <a:lnSpc>
                <a:spcPct val="105000"/>
              </a:lnSpc>
              <a:spcAft>
                <a:spcPts val="1400"/>
              </a:spcAft>
            </a:pPr>
            <a:r>
              <a:rPr sz="5400" b="1">
                <a:solidFill>
                  <a:srgbClr val="FFFFFF"/>
                </a:solidFill>
                <a:latin typeface="Arial"/>
              </a:rPr>
              <a:t>The easy way in.</a:t>
            </a:r>
          </a:p>
        </p:txBody>
      </p:sp>
      <p:sp>
        <p:nvSpPr>
          <p:cNvPr id="4" name="TextBox 3"/>
          <p:cNvSpPr txBox="1"/>
          <p:nvPr/>
        </p:nvSpPr>
        <p:spPr>
          <a:xfrm>
            <a:off x="822960" y="2148840"/>
            <a:ext cx="10545775" cy="1953420"/>
          </a:xfrm>
          <a:prstGeom prst="rect">
            <a:avLst/>
          </a:prstGeom>
          <a:noFill/>
        </p:spPr>
        <p:txBody>
          <a:bodyPr wrap="square">
            <a:spAutoFit/>
          </a:bodyPr>
          <a:lstStyle/>
          <a:p>
            <a:pPr>
              <a:lnSpc>
                <a:spcPct val="105000"/>
              </a:lnSpc>
              <a:spcAft>
                <a:spcPts val="1600"/>
              </a:spcAft>
            </a:pPr>
            <a:r>
              <a:rPr sz="3000" b="0" dirty="0">
                <a:solidFill>
                  <a:srgbClr val="E8F0EE"/>
                </a:solidFill>
                <a:latin typeface="Arial"/>
              </a:rPr>
              <a:t>A stolen key. A copied agent card. A lookalike domain.</a:t>
            </a:r>
          </a:p>
          <a:p>
            <a:pPr>
              <a:lnSpc>
                <a:spcPct val="105000"/>
              </a:lnSpc>
              <a:spcAft>
                <a:spcPts val="1600"/>
              </a:spcAft>
            </a:pPr>
            <a:r>
              <a:rPr sz="3000" b="0" dirty="0">
                <a:solidFill>
                  <a:srgbClr val="E8F0EE"/>
                </a:solidFill>
                <a:latin typeface="Arial"/>
              </a:rPr>
              <a:t>Your agent cannot tell the difference.</a:t>
            </a:r>
          </a:p>
          <a:p>
            <a:pPr>
              <a:lnSpc>
                <a:spcPct val="105000"/>
              </a:lnSpc>
              <a:spcAft>
                <a:spcPts val="1600"/>
              </a:spcAft>
            </a:pPr>
            <a:r>
              <a:rPr lang="en-US" sz="3200" b="1" dirty="0">
                <a:solidFill>
                  <a:srgbClr val="2DD3B8"/>
                </a:solidFill>
                <a:latin typeface="Arial"/>
              </a:rPr>
              <a:t>For this hackathon</a:t>
            </a:r>
            <a:r>
              <a:rPr sz="3200" b="1" dirty="0">
                <a:solidFill>
                  <a:srgbClr val="2DD3B8"/>
                </a:solidFill>
                <a:latin typeface="Arial"/>
              </a:rPr>
              <a:t>, it will have to.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45775" cy="1828800"/>
          </a:xfrm>
          <a:prstGeom prst="rect">
            <a:avLst/>
          </a:prstGeom>
          <a:noFill/>
        </p:spPr>
        <p:txBody>
          <a:bodyPr wrap="square">
            <a:spAutoFit/>
          </a:bodyPr>
          <a:lstStyle/>
          <a:p>
            <a:pPr>
              <a:lnSpc>
                <a:spcPct val="105000"/>
              </a:lnSpc>
              <a:spcAft>
                <a:spcPts val="1400"/>
              </a:spcAft>
            </a:pPr>
            <a:r>
              <a:rPr sz="5400" b="1">
                <a:solidFill>
                  <a:srgbClr val="FFFFFF"/>
                </a:solidFill>
                <a:latin typeface="Arial"/>
              </a:rPr>
              <a:t>Who is that?</a:t>
            </a:r>
          </a:p>
        </p:txBody>
      </p:sp>
      <p:sp>
        <p:nvSpPr>
          <p:cNvPr id="4" name="TextBox 3"/>
          <p:cNvSpPr txBox="1"/>
          <p:nvPr/>
        </p:nvSpPr>
        <p:spPr>
          <a:xfrm>
            <a:off x="822960" y="2148840"/>
            <a:ext cx="10545775" cy="3886200"/>
          </a:xfrm>
          <a:prstGeom prst="rect">
            <a:avLst/>
          </a:prstGeom>
          <a:noFill/>
        </p:spPr>
        <p:txBody>
          <a:bodyPr wrap="square">
            <a:spAutoFit/>
          </a:bodyPr>
          <a:lstStyle/>
          <a:p>
            <a:pPr>
              <a:lnSpc>
                <a:spcPct val="105000"/>
              </a:lnSpc>
              <a:spcAft>
                <a:spcPts val="1600"/>
              </a:spcAft>
            </a:pPr>
            <a:r>
              <a:rPr sz="3000" b="0" dirty="0">
                <a:solidFill>
                  <a:srgbClr val="E8F0EE"/>
                </a:solidFill>
                <a:latin typeface="Arial"/>
              </a:rPr>
              <a:t>An unknown agent calls yours at 2 AM.</a:t>
            </a:r>
          </a:p>
          <a:p>
            <a:pPr>
              <a:lnSpc>
                <a:spcPct val="105000"/>
              </a:lnSpc>
              <a:spcAft>
                <a:spcPts val="1600"/>
              </a:spcAft>
            </a:pPr>
            <a:r>
              <a:rPr sz="3200" b="1" dirty="0">
                <a:solidFill>
                  <a:srgbClr val="2DD3B8"/>
                </a:solidFill>
                <a:latin typeface="Arial"/>
              </a:rPr>
              <a:t>Who operates it?</a:t>
            </a:r>
          </a:p>
          <a:p>
            <a:pPr>
              <a:lnSpc>
                <a:spcPct val="105000"/>
              </a:lnSpc>
              <a:spcAft>
                <a:spcPts val="1600"/>
              </a:spcAft>
            </a:pPr>
            <a:r>
              <a:rPr sz="3200" b="1" dirty="0">
                <a:solidFill>
                  <a:srgbClr val="2DD3B8"/>
                </a:solidFill>
                <a:latin typeface="Arial"/>
              </a:rPr>
              <a:t>Which version are you reaching?</a:t>
            </a:r>
          </a:p>
          <a:p>
            <a:pPr>
              <a:lnSpc>
                <a:spcPct val="105000"/>
              </a:lnSpc>
              <a:spcAft>
                <a:spcPts val="1600"/>
              </a:spcAft>
            </a:pPr>
            <a:r>
              <a:rPr sz="3200" b="1" dirty="0">
                <a:solidFill>
                  <a:srgbClr val="2DD3B8"/>
                </a:solidFill>
                <a:latin typeface="Arial"/>
              </a:rPr>
              <a:t>What changed since yesterday?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45775" cy="1828800"/>
          </a:xfrm>
          <a:prstGeom prst="rect">
            <a:avLst/>
          </a:prstGeom>
          <a:noFill/>
        </p:spPr>
        <p:txBody>
          <a:bodyPr wrap="square">
            <a:spAutoFit/>
          </a:bodyPr>
          <a:lstStyle/>
          <a:p>
            <a:pPr>
              <a:lnSpc>
                <a:spcPct val="105000"/>
              </a:lnSpc>
              <a:spcAft>
                <a:spcPts val="1400"/>
              </a:spcAft>
            </a:pPr>
            <a:r>
              <a:rPr sz="5400" b="1">
                <a:solidFill>
                  <a:srgbClr val="FFFFFF"/>
                </a:solidFill>
                <a:latin typeface="Arial"/>
              </a:rPr>
              <a:t>Talking is not proving.</a:t>
            </a:r>
          </a:p>
        </p:txBody>
      </p:sp>
      <p:sp>
        <p:nvSpPr>
          <p:cNvPr id="4" name="TextBox 3"/>
          <p:cNvSpPr txBox="1"/>
          <p:nvPr/>
        </p:nvSpPr>
        <p:spPr>
          <a:xfrm>
            <a:off x="822960" y="2148840"/>
            <a:ext cx="10545775" cy="3097964"/>
          </a:xfrm>
          <a:prstGeom prst="rect">
            <a:avLst/>
          </a:prstGeom>
          <a:noFill/>
        </p:spPr>
        <p:txBody>
          <a:bodyPr wrap="square">
            <a:spAutoFit/>
          </a:bodyPr>
          <a:lstStyle/>
          <a:p>
            <a:pPr>
              <a:lnSpc>
                <a:spcPct val="105000"/>
              </a:lnSpc>
              <a:spcAft>
                <a:spcPts val="1600"/>
              </a:spcAft>
            </a:pPr>
            <a:r>
              <a:rPr sz="3000" b="0" dirty="0">
                <a:solidFill>
                  <a:srgbClr val="E8F0EE"/>
                </a:solidFill>
                <a:latin typeface="Arial"/>
              </a:rPr>
              <a:t>MCP and A2A teach agents to talk.</a:t>
            </a:r>
          </a:p>
          <a:p>
            <a:pPr>
              <a:lnSpc>
                <a:spcPct val="105000"/>
              </a:lnSpc>
              <a:spcAft>
                <a:spcPts val="1600"/>
              </a:spcAft>
            </a:pPr>
            <a:r>
              <a:rPr lang="en-US" sz="3000" dirty="0">
                <a:solidFill>
                  <a:srgbClr val="E8F0EE"/>
                </a:solidFill>
                <a:latin typeface="Arial"/>
              </a:rPr>
              <a:t>Their a</a:t>
            </a:r>
            <a:r>
              <a:rPr sz="3000" b="0">
                <a:solidFill>
                  <a:srgbClr val="E8F0EE"/>
                </a:solidFill>
                <a:latin typeface="Arial"/>
              </a:rPr>
              <a:t>gent </a:t>
            </a:r>
            <a:r>
              <a:rPr lang="en-US" sz="3000" b="0">
                <a:solidFill>
                  <a:srgbClr val="E8F0EE"/>
                </a:solidFill>
                <a:latin typeface="Arial"/>
              </a:rPr>
              <a:t>metadata</a:t>
            </a:r>
            <a:r>
              <a:rPr sz="3000" b="0">
                <a:solidFill>
                  <a:srgbClr val="E8F0EE"/>
                </a:solidFill>
                <a:latin typeface="Arial"/>
              </a:rPr>
              <a:t> describe</a:t>
            </a:r>
            <a:r>
              <a:rPr lang="en-US" sz="3000" b="0">
                <a:solidFill>
                  <a:srgbClr val="E8F0EE"/>
                </a:solidFill>
                <a:latin typeface="Arial"/>
              </a:rPr>
              <a:t>s</a:t>
            </a:r>
            <a:r>
              <a:rPr sz="3000" b="0">
                <a:solidFill>
                  <a:srgbClr val="E8F0EE"/>
                </a:solidFill>
                <a:latin typeface="Arial"/>
              </a:rPr>
              <a:t>.</a:t>
            </a:r>
            <a:endParaRPr sz="3000" b="0" dirty="0">
              <a:solidFill>
                <a:srgbClr val="E8F0EE"/>
              </a:solidFill>
              <a:latin typeface="Arial"/>
            </a:endParaRPr>
          </a:p>
          <a:p>
            <a:pPr>
              <a:lnSpc>
                <a:spcPct val="105000"/>
              </a:lnSpc>
              <a:spcAft>
                <a:spcPts val="1600"/>
              </a:spcAft>
            </a:pPr>
            <a:r>
              <a:rPr sz="3000" b="0" dirty="0">
                <a:solidFill>
                  <a:srgbClr val="E8F0EE"/>
                </a:solidFill>
                <a:latin typeface="Arial"/>
              </a:rPr>
              <a:t>Neither proves who you are talking to.</a:t>
            </a:r>
          </a:p>
          <a:p>
            <a:pPr>
              <a:lnSpc>
                <a:spcPct val="105000"/>
              </a:lnSpc>
              <a:spcAft>
                <a:spcPts val="1600"/>
              </a:spcAft>
            </a:pPr>
            <a:r>
              <a:rPr sz="3000" b="1" dirty="0">
                <a:solidFill>
                  <a:srgbClr val="2DD3B8"/>
                </a:solidFill>
                <a:latin typeface="Arial"/>
              </a:rPr>
              <a:t>ANS binds identity to a domain, a version, certificates, and an auditable history.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411480"/>
            <a:ext cx="10545775" cy="1188720"/>
          </a:xfrm>
          <a:prstGeom prst="rect">
            <a:avLst/>
          </a:prstGeom>
          <a:noFill/>
        </p:spPr>
        <p:txBody>
          <a:bodyPr wrap="square">
            <a:spAutoFit/>
          </a:bodyPr>
          <a:lstStyle/>
          <a:p>
            <a:pPr>
              <a:lnSpc>
                <a:spcPct val="105000"/>
              </a:lnSpc>
              <a:spcAft>
                <a:spcPts val="1400"/>
              </a:spcAft>
            </a:pPr>
            <a:r>
              <a:rPr sz="5400" b="1">
                <a:solidFill>
                  <a:srgbClr val="FFFFFF"/>
                </a:solidFill>
                <a:latin typeface="Arial"/>
              </a:rPr>
              <a:t>One name you can check.</a:t>
            </a:r>
          </a:p>
        </p:txBody>
      </p:sp>
      <p:sp>
        <p:nvSpPr>
          <p:cNvPr id="4" name="Rounded Rectangle 3"/>
          <p:cNvSpPr/>
          <p:nvPr/>
        </p:nvSpPr>
        <p:spPr>
          <a:xfrm>
            <a:off x="822960" y="1783080"/>
            <a:ext cx="10545775" cy="914400"/>
          </a:xfrm>
          <a:prstGeom prst="roundRect">
            <a:avLst/>
          </a:prstGeom>
          <a:solidFill>
            <a:srgbClr val="12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1938528"/>
            <a:ext cx="9905695" cy="594360"/>
          </a:xfrm>
          <a:prstGeom prst="rect">
            <a:avLst/>
          </a:prstGeom>
          <a:noFill/>
        </p:spPr>
        <p:txBody>
          <a:bodyPr wrap="square">
            <a:spAutoFit/>
          </a:bodyPr>
          <a:lstStyle/>
          <a:p>
            <a:pPr>
              <a:lnSpc>
                <a:spcPct val="100000"/>
              </a:lnSpc>
              <a:spcAft>
                <a:spcPts val="500"/>
              </a:spcAft>
            </a:pPr>
            <a:r>
              <a:rPr sz="1700">
                <a:solidFill>
                  <a:srgbClr val="C9E8E2"/>
                </a:solidFill>
                <a:latin typeface="Consolas"/>
              </a:rPr>
              <a:t>ans://v1.0.9.agent.webmesh.ai</a:t>
            </a:r>
          </a:p>
        </p:txBody>
      </p:sp>
      <p:sp>
        <p:nvSpPr>
          <p:cNvPr id="6" name="TextBox 5"/>
          <p:cNvSpPr txBox="1"/>
          <p:nvPr/>
        </p:nvSpPr>
        <p:spPr>
          <a:xfrm>
            <a:off x="822960" y="3063240"/>
            <a:ext cx="10545775" cy="914400"/>
          </a:xfrm>
          <a:prstGeom prst="rect">
            <a:avLst/>
          </a:prstGeom>
          <a:noFill/>
        </p:spPr>
        <p:txBody>
          <a:bodyPr wrap="square">
            <a:spAutoFit/>
          </a:bodyPr>
          <a:lstStyle/>
          <a:p>
            <a:pPr>
              <a:lnSpc>
                <a:spcPct val="105000"/>
              </a:lnSpc>
              <a:spcAft>
                <a:spcPts val="800"/>
              </a:spcAft>
            </a:pPr>
            <a:r>
              <a:rPr sz="2600" b="0">
                <a:solidFill>
                  <a:srgbClr val="E8F0EE"/>
                </a:solidFill>
                <a:latin typeface="Arial"/>
              </a:rPr>
              <a:t>Domain — who controls the name.</a:t>
            </a:r>
          </a:p>
          <a:p>
            <a:pPr>
              <a:lnSpc>
                <a:spcPct val="105000"/>
              </a:lnSpc>
              <a:spcAft>
                <a:spcPts val="800"/>
              </a:spcAft>
            </a:pPr>
            <a:r>
              <a:rPr sz="2600" b="0">
                <a:solidFill>
                  <a:srgbClr val="E8F0EE"/>
                </a:solidFill>
                <a:latin typeface="Arial"/>
              </a:rPr>
              <a:t>Version — which deployment you meant.</a:t>
            </a:r>
          </a:p>
          <a:p>
            <a:pPr>
              <a:lnSpc>
                <a:spcPct val="105000"/>
              </a:lnSpc>
              <a:spcAft>
                <a:spcPts val="800"/>
              </a:spcAft>
            </a:pPr>
            <a:r>
              <a:rPr sz="2600" b="0">
                <a:solidFill>
                  <a:srgbClr val="E8F0EE"/>
                </a:solidFill>
                <a:latin typeface="Arial"/>
              </a:rPr>
              <a:t>Certificates prove it. A public log records every change.</a:t>
            </a:r>
          </a:p>
        </p:txBody>
      </p:sp>
      <p:sp>
        <p:nvSpPr>
          <p:cNvPr id="7" name="TextBox 6"/>
          <p:cNvSpPr txBox="1"/>
          <p:nvPr/>
        </p:nvSpPr>
        <p:spPr>
          <a:xfrm>
            <a:off x="822960" y="6035040"/>
            <a:ext cx="10545775" cy="548640"/>
          </a:xfrm>
          <a:prstGeom prst="rect">
            <a:avLst/>
          </a:prstGeom>
          <a:noFill/>
        </p:spPr>
        <p:txBody>
          <a:bodyPr wrap="square">
            <a:spAutoFit/>
          </a:bodyPr>
          <a:lstStyle/>
          <a:p>
            <a:pPr>
              <a:lnSpc>
                <a:spcPct val="105000"/>
              </a:lnSpc>
              <a:spcAft>
                <a:spcPts val="1400"/>
              </a:spcAft>
            </a:pPr>
            <a:r>
              <a:rPr sz="1400" b="0">
                <a:solidFill>
                  <a:srgbClr val="8A9B98"/>
                </a:solidFill>
                <a:latin typeface="Arial"/>
              </a:rPr>
              <a:t>A real production name. Source: the agent's identity certificate.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411480"/>
            <a:ext cx="10545775" cy="1188720"/>
          </a:xfrm>
          <a:prstGeom prst="rect">
            <a:avLst/>
          </a:prstGeom>
          <a:noFill/>
        </p:spPr>
        <p:txBody>
          <a:bodyPr wrap="square">
            <a:spAutoFit/>
          </a:bodyPr>
          <a:lstStyle/>
          <a:p>
            <a:pPr>
              <a:lnSpc>
                <a:spcPct val="105000"/>
              </a:lnSpc>
              <a:spcAft>
                <a:spcPts val="1400"/>
              </a:spcAft>
            </a:pPr>
            <a:r>
              <a:rPr sz="5400" b="1">
                <a:solidFill>
                  <a:srgbClr val="FFFFFF"/>
                </a:solidFill>
                <a:latin typeface="Arial"/>
              </a:rPr>
              <a:t>Six commands. One identity.</a:t>
            </a:r>
          </a:p>
        </p:txBody>
      </p:sp>
      <p:sp>
        <p:nvSpPr>
          <p:cNvPr id="4" name="Rounded Rectangle 3"/>
          <p:cNvSpPr/>
          <p:nvPr/>
        </p:nvSpPr>
        <p:spPr>
          <a:xfrm>
            <a:off x="822960" y="1783080"/>
            <a:ext cx="10545775" cy="3977639"/>
          </a:xfrm>
          <a:prstGeom prst="roundRect">
            <a:avLst/>
          </a:prstGeom>
          <a:solidFill>
            <a:srgbClr val="12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1938528"/>
            <a:ext cx="9905695" cy="3657599"/>
          </a:xfrm>
          <a:prstGeom prst="rect">
            <a:avLst/>
          </a:prstGeom>
          <a:noFill/>
        </p:spPr>
        <p:txBody>
          <a:bodyPr wrap="square">
            <a:spAutoFit/>
          </a:bodyPr>
          <a:lstStyle/>
          <a:p>
            <a:pPr>
              <a:lnSpc>
                <a:spcPct val="100000"/>
              </a:lnSpc>
              <a:spcAft>
                <a:spcPts val="500"/>
              </a:spcAft>
            </a:pPr>
            <a:r>
              <a:rPr sz="1700">
                <a:solidFill>
                  <a:srgbClr val="C9E8E2"/>
                </a:solidFill>
                <a:latin typeface="Consolas"/>
              </a:rPr>
              <a:t>export ANS_BASE_URL="https://api.godaddy.com"   # production</a:t>
            </a:r>
          </a:p>
          <a:p>
            <a:pPr>
              <a:lnSpc>
                <a:spcPct val="100000"/>
              </a:lnSpc>
              <a:spcAft>
                <a:spcPts val="500"/>
              </a:spcAft>
            </a:pPr>
            <a:r>
              <a:rPr sz="1700">
                <a:solidFill>
                  <a:srgbClr val="C9E8E2"/>
                </a:solidFill>
                <a:latin typeface="Consolas"/>
              </a:rPr>
              <a:t>ans-cli generate-csr \</a:t>
            </a:r>
          </a:p>
          <a:p>
            <a:pPr>
              <a:lnSpc>
                <a:spcPct val="100000"/>
              </a:lnSpc>
              <a:spcAft>
                <a:spcPts val="500"/>
              </a:spcAft>
            </a:pPr>
            <a:r>
              <a:rPr sz="1700">
                <a:solidFill>
                  <a:srgbClr val="C9E8E2"/>
                </a:solidFill>
                <a:latin typeface="Consolas"/>
              </a:rPr>
              <a:t>  --host myagent.example.com --version 1.0.0 --out-dir ./certs</a:t>
            </a:r>
          </a:p>
          <a:p>
            <a:pPr>
              <a:lnSpc>
                <a:spcPct val="100000"/>
              </a:lnSpc>
              <a:spcAft>
                <a:spcPts val="500"/>
              </a:spcAft>
            </a:pPr>
            <a:r>
              <a:rPr sz="1700">
                <a:solidFill>
                  <a:srgbClr val="C9E8E2"/>
                </a:solidFill>
                <a:latin typeface="Consolas"/>
              </a:rPr>
              <a:t>ans-cli register \</a:t>
            </a:r>
          </a:p>
          <a:p>
            <a:pPr>
              <a:lnSpc>
                <a:spcPct val="100000"/>
              </a:lnSpc>
              <a:spcAft>
                <a:spcPts val="500"/>
              </a:spcAft>
            </a:pPr>
            <a:r>
              <a:rPr sz="1700">
                <a:solidFill>
                  <a:srgbClr val="C9E8E2"/>
                </a:solidFill>
                <a:latin typeface="Consolas"/>
              </a:rPr>
              <a:t>  --host myagent.example.com --version 1.0.0 \</a:t>
            </a:r>
          </a:p>
          <a:p>
            <a:pPr>
              <a:lnSpc>
                <a:spcPct val="100000"/>
              </a:lnSpc>
              <a:spcAft>
                <a:spcPts val="500"/>
              </a:spcAft>
            </a:pPr>
            <a:r>
              <a:rPr sz="1700">
                <a:solidFill>
                  <a:srgbClr val="C9E8E2"/>
                </a:solidFill>
                <a:latin typeface="Consolas"/>
              </a:rPr>
              <a:t>  --identity-csr ./certs/identity.csr --server-csr ./certs/server.csr \</a:t>
            </a:r>
          </a:p>
          <a:p>
            <a:pPr>
              <a:lnSpc>
                <a:spcPct val="100000"/>
              </a:lnSpc>
              <a:spcAft>
                <a:spcPts val="500"/>
              </a:spcAft>
            </a:pPr>
            <a:r>
              <a:rPr sz="1700">
                <a:solidFill>
                  <a:srgbClr val="C9E8E2"/>
                </a:solidFill>
                <a:latin typeface="Consolas"/>
              </a:rPr>
              <a:t>  --endpoint-url https://myagent.example.com/mcp</a:t>
            </a:r>
          </a:p>
          <a:p>
            <a:pPr>
              <a:lnSpc>
                <a:spcPct val="100000"/>
              </a:lnSpc>
              <a:spcAft>
                <a:spcPts val="500"/>
              </a:spcAft>
            </a:pPr>
            <a:r>
              <a:rPr sz="1700">
                <a:solidFill>
                  <a:srgbClr val="C9E8E2"/>
                </a:solidFill>
                <a:latin typeface="Consolas"/>
              </a:rPr>
              <a:t># place the DNS TXT record from the response</a:t>
            </a:r>
          </a:p>
          <a:p>
            <a:pPr>
              <a:lnSpc>
                <a:spcPct val="100000"/>
              </a:lnSpc>
              <a:spcAft>
                <a:spcPts val="500"/>
              </a:spcAft>
            </a:pPr>
            <a:r>
              <a:rPr sz="1700">
                <a:solidFill>
                  <a:srgbClr val="C9E8E2"/>
                </a:solidFill>
                <a:latin typeface="Consolas"/>
              </a:rPr>
              <a:t>ans-cli verify-acme &lt;agentId&gt;</a:t>
            </a:r>
          </a:p>
          <a:p>
            <a:pPr>
              <a:lnSpc>
                <a:spcPct val="100000"/>
              </a:lnSpc>
              <a:spcAft>
                <a:spcPts val="500"/>
              </a:spcAft>
            </a:pPr>
            <a:r>
              <a:rPr sz="1700">
                <a:solidFill>
                  <a:srgbClr val="C9E8E2"/>
                </a:solidFill>
                <a:latin typeface="Consolas"/>
              </a:rPr>
              <a:t>ans-cli status &lt;agentId&gt;</a:t>
            </a:r>
          </a:p>
          <a:p>
            <a:pPr>
              <a:lnSpc>
                <a:spcPct val="100000"/>
              </a:lnSpc>
              <a:spcAft>
                <a:spcPts val="500"/>
              </a:spcAft>
            </a:pPr>
            <a:r>
              <a:rPr sz="1700">
                <a:solidFill>
                  <a:srgbClr val="C9E8E2"/>
                </a:solidFill>
                <a:latin typeface="Consolas"/>
              </a:rPr>
              <a:t>ans-cli get-identity-certs &lt;agentId&gt;</a:t>
            </a:r>
          </a:p>
        </p:txBody>
      </p:sp>
      <p:sp>
        <p:nvSpPr>
          <p:cNvPr id="6" name="TextBox 5"/>
          <p:cNvSpPr txBox="1"/>
          <p:nvPr/>
        </p:nvSpPr>
        <p:spPr>
          <a:xfrm>
            <a:off x="822960" y="6035040"/>
            <a:ext cx="10545775" cy="548640"/>
          </a:xfrm>
          <a:prstGeom prst="rect">
            <a:avLst/>
          </a:prstGeom>
          <a:noFill/>
        </p:spPr>
        <p:txBody>
          <a:bodyPr wrap="square">
            <a:spAutoFit/>
          </a:bodyPr>
          <a:lstStyle/>
          <a:p>
            <a:pPr>
              <a:lnSpc>
                <a:spcPct val="105000"/>
              </a:lnSpc>
              <a:spcAft>
                <a:spcPts val="1400"/>
              </a:spcAft>
            </a:pPr>
            <a:r>
              <a:rPr sz="1400" b="0">
                <a:solidFill>
                  <a:srgbClr val="8A9B98"/>
                </a:solidFill>
                <a:latin typeface="Arial"/>
              </a:rPr>
              <a:t>Install: brew install agentnameservice/ans/ans-cli  ·  API key: GoDaddy table or #godaddy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45775" cy="1828800"/>
          </a:xfrm>
          <a:prstGeom prst="rect">
            <a:avLst/>
          </a:prstGeom>
          <a:noFill/>
        </p:spPr>
        <p:txBody>
          <a:bodyPr wrap="square">
            <a:spAutoFit/>
          </a:bodyPr>
          <a:lstStyle/>
          <a:p>
            <a:pPr>
              <a:lnSpc>
                <a:spcPct val="105000"/>
              </a:lnSpc>
              <a:spcAft>
                <a:spcPts val="1400"/>
              </a:spcAft>
            </a:pPr>
            <a:r>
              <a:rPr sz="5400" b="1">
                <a:solidFill>
                  <a:srgbClr val="FFFFFF"/>
                </a:solidFill>
                <a:latin typeface="Arial"/>
              </a:rPr>
              <a:t>Watch what it does.</a:t>
            </a:r>
          </a:p>
        </p:txBody>
      </p:sp>
      <p:sp>
        <p:nvSpPr>
          <p:cNvPr id="4" name="TextBox 3"/>
          <p:cNvSpPr txBox="1"/>
          <p:nvPr/>
        </p:nvSpPr>
        <p:spPr>
          <a:xfrm>
            <a:off x="822960" y="2148840"/>
            <a:ext cx="10545775" cy="3886200"/>
          </a:xfrm>
          <a:prstGeom prst="rect">
            <a:avLst/>
          </a:prstGeom>
          <a:noFill/>
        </p:spPr>
        <p:txBody>
          <a:bodyPr wrap="square">
            <a:spAutoFit/>
          </a:bodyPr>
          <a:lstStyle/>
          <a:p>
            <a:pPr>
              <a:lnSpc>
                <a:spcPct val="105000"/>
              </a:lnSpc>
              <a:spcAft>
                <a:spcPts val="1600"/>
              </a:spcAft>
            </a:pPr>
            <a:r>
              <a:rPr sz="3000" b="1">
                <a:solidFill>
                  <a:srgbClr val="2DD3B8"/>
                </a:solidFill>
                <a:latin typeface="Arial"/>
              </a:rPr>
              <a:t>Integrity  ·  Identity  ·  Solvency  ·  Behavior  ·  Safety</a:t>
            </a:r>
          </a:p>
          <a:p>
            <a:pPr>
              <a:lnSpc>
                <a:spcPct val="105000"/>
              </a:lnSpc>
              <a:spcAft>
                <a:spcPts val="1600"/>
              </a:spcAft>
            </a:pPr>
            <a:r>
              <a:rPr sz="3000" b="0">
                <a:solidFill>
                  <a:srgbClr val="E8F0EE"/>
                </a:solidFill>
                <a:latin typeface="Arial"/>
              </a:rPr>
              <a:t>Five scored dimensions — each with reasons, not just a number.</a:t>
            </a:r>
          </a:p>
          <a:p>
            <a:pPr>
              <a:lnSpc>
                <a:spcPct val="105000"/>
              </a:lnSpc>
              <a:spcAft>
                <a:spcPts val="1600"/>
              </a:spcAft>
            </a:pPr>
            <a:r>
              <a:rPr sz="3000" b="0">
                <a:solidFill>
                  <a:srgbClr val="E8F0EE"/>
                </a:solidFill>
                <a:latin typeface="Arial"/>
              </a:rPr>
              <a:t>A low score warns you off. A high score never vouches for anyone.</a:t>
            </a:r>
          </a:p>
        </p:txBody>
      </p:sp>
      <p:sp>
        <p:nvSpPr>
          <p:cNvPr id="5" name="TextBox 4"/>
          <p:cNvSpPr txBox="1"/>
          <p:nvPr/>
        </p:nvSpPr>
        <p:spPr>
          <a:xfrm>
            <a:off x="822960" y="5989320"/>
            <a:ext cx="10545775" cy="548640"/>
          </a:xfrm>
          <a:prstGeom prst="rect">
            <a:avLst/>
          </a:prstGeom>
          <a:noFill/>
        </p:spPr>
        <p:txBody>
          <a:bodyPr wrap="square">
            <a:spAutoFit/>
          </a:bodyPr>
          <a:lstStyle/>
          <a:p>
            <a:pPr>
              <a:lnSpc>
                <a:spcPct val="105000"/>
              </a:lnSpc>
              <a:spcAft>
                <a:spcPts val="1400"/>
              </a:spcAft>
            </a:pPr>
            <a:r>
              <a:rPr sz="1400" b="0">
                <a:solidFill>
                  <a:srgbClr val="8A9B98"/>
                </a:solidFill>
                <a:latin typeface="Arial"/>
              </a:rPr>
              <a:t>Trust Index: github.com/agentnameservice/agent-trust-discovery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45775" cy="1828800"/>
          </a:xfrm>
          <a:prstGeom prst="rect">
            <a:avLst/>
          </a:prstGeom>
          <a:noFill/>
        </p:spPr>
        <p:txBody>
          <a:bodyPr wrap="square">
            <a:spAutoFit/>
          </a:bodyPr>
          <a:lstStyle/>
          <a:p>
            <a:pPr>
              <a:lnSpc>
                <a:spcPct val="105000"/>
              </a:lnSpc>
              <a:spcAft>
                <a:spcPts val="1400"/>
              </a:spcAft>
            </a:pPr>
            <a:r>
              <a:rPr sz="5400" b="1">
                <a:solidFill>
                  <a:srgbClr val="FFFFFF"/>
                </a:solidFill>
                <a:latin typeface="Arial"/>
              </a:rPr>
              <a:t>Discover. Resolve. Verify. Connect.</a:t>
            </a:r>
          </a:p>
        </p:txBody>
      </p:sp>
      <p:sp>
        <p:nvSpPr>
          <p:cNvPr id="4" name="TextBox 3"/>
          <p:cNvSpPr txBox="1"/>
          <p:nvPr/>
        </p:nvSpPr>
        <p:spPr>
          <a:xfrm>
            <a:off x="822960" y="2148840"/>
            <a:ext cx="10545775" cy="3886200"/>
          </a:xfrm>
          <a:prstGeom prst="rect">
            <a:avLst/>
          </a:prstGeom>
          <a:noFill/>
        </p:spPr>
        <p:txBody>
          <a:bodyPr wrap="square">
            <a:spAutoFit/>
          </a:bodyPr>
          <a:lstStyle/>
          <a:p>
            <a:pPr>
              <a:lnSpc>
                <a:spcPct val="105000"/>
              </a:lnSpc>
              <a:spcAft>
                <a:spcPts val="1600"/>
              </a:spcAft>
            </a:pPr>
            <a:r>
              <a:rPr sz="3000" b="0">
                <a:solidFill>
                  <a:srgbClr val="E8F0EE"/>
                </a:solidFill>
                <a:latin typeface="Arial"/>
              </a:rPr>
              <a:t>Search by domain, capability, protocol.</a:t>
            </a:r>
          </a:p>
          <a:p>
            <a:pPr>
              <a:lnSpc>
                <a:spcPct val="105000"/>
              </a:lnSpc>
              <a:spcAft>
                <a:spcPts val="1600"/>
              </a:spcAft>
            </a:pPr>
            <a:r>
              <a:rPr sz="3000" b="0">
                <a:solidFill>
                  <a:srgbClr val="E8F0EE"/>
                </a:solidFill>
                <a:latin typeface="Arial"/>
              </a:rPr>
              <a:t>Pick a version and endpoint.</a:t>
            </a:r>
          </a:p>
          <a:p>
            <a:pPr>
              <a:lnSpc>
                <a:spcPct val="105000"/>
              </a:lnSpc>
              <a:spcAft>
                <a:spcPts val="1600"/>
              </a:spcAft>
            </a:pPr>
            <a:r>
              <a:rPr sz="3000" b="0">
                <a:solidFill>
                  <a:srgbClr val="E8F0EE"/>
                </a:solidFill>
                <a:latin typeface="Arial"/>
              </a:rPr>
              <a:t>Check who it is, whether it is still valid, what backs it up, and what your policy allows.</a:t>
            </a:r>
          </a:p>
          <a:p>
            <a:pPr>
              <a:lnSpc>
                <a:spcPct val="105000"/>
              </a:lnSpc>
              <a:spcAft>
                <a:spcPts val="1600"/>
              </a:spcAft>
            </a:pPr>
            <a:r>
              <a:rPr sz="3200" b="1">
                <a:solidFill>
                  <a:srgbClr val="2DD3B8"/>
                </a:solidFill>
                <a:latin typeface="Arial"/>
              </a:rPr>
              <a:t>Then — and only then — connect.</a:t>
            </a:r>
          </a:p>
        </p:txBody>
      </p:sp>
      <p:sp>
        <p:nvSpPr>
          <p:cNvPr id="5" name="TextBox 4"/>
          <p:cNvSpPr txBox="1"/>
          <p:nvPr/>
        </p:nvSpPr>
        <p:spPr>
          <a:xfrm>
            <a:off x="822960" y="5989320"/>
            <a:ext cx="10545775" cy="548640"/>
          </a:xfrm>
          <a:prstGeom prst="rect">
            <a:avLst/>
          </a:prstGeom>
          <a:noFill/>
        </p:spPr>
        <p:txBody>
          <a:bodyPr wrap="square">
            <a:spAutoFit/>
          </a:bodyPr>
          <a:lstStyle/>
          <a:p>
            <a:pPr>
              <a:lnSpc>
                <a:spcPct val="105000"/>
              </a:lnSpc>
              <a:spcAft>
                <a:spcPts val="1400"/>
              </a:spcAft>
            </a:pPr>
            <a:r>
              <a:rPr sz="1400" b="0">
                <a:solidFill>
                  <a:srgbClr val="8A9B98"/>
                </a:solidFill>
                <a:latin typeface="Arial"/>
              </a:rPr>
              <a:t>Never let discovery alone authorize an action.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45775" cy="1828800"/>
          </a:xfrm>
          <a:prstGeom prst="rect">
            <a:avLst/>
          </a:prstGeom>
          <a:noFill/>
        </p:spPr>
        <p:txBody>
          <a:bodyPr wrap="square">
            <a:spAutoFit/>
          </a:bodyPr>
          <a:lstStyle/>
          <a:p>
            <a:pPr>
              <a:lnSpc>
                <a:spcPct val="105000"/>
              </a:lnSpc>
              <a:spcAft>
                <a:spcPts val="1400"/>
              </a:spcAft>
            </a:pPr>
            <a:r>
              <a:rPr sz="5400" b="1">
                <a:solidFill>
                  <a:srgbClr val="FFFFFF"/>
                </a:solidFill>
                <a:latin typeface="Arial"/>
              </a:rPr>
              <a:t>Build for strangers.</a:t>
            </a:r>
          </a:p>
        </p:txBody>
      </p:sp>
      <p:sp>
        <p:nvSpPr>
          <p:cNvPr id="4" name="TextBox 3"/>
          <p:cNvSpPr txBox="1"/>
          <p:nvPr/>
        </p:nvSpPr>
        <p:spPr>
          <a:xfrm>
            <a:off x="822960" y="2148840"/>
            <a:ext cx="10545775" cy="3886200"/>
          </a:xfrm>
          <a:prstGeom prst="rect">
            <a:avLst/>
          </a:prstGeom>
          <a:noFill/>
        </p:spPr>
        <p:txBody>
          <a:bodyPr wrap="square">
            <a:spAutoFit/>
          </a:bodyPr>
          <a:lstStyle/>
          <a:p>
            <a:pPr>
              <a:lnSpc>
                <a:spcPct val="105000"/>
              </a:lnSpc>
              <a:spcAft>
                <a:spcPts val="1600"/>
              </a:spcAft>
            </a:pPr>
            <a:r>
              <a:rPr sz="3000" b="0">
                <a:solidFill>
                  <a:srgbClr val="E8F0EE"/>
                </a:solidFill>
                <a:latin typeface="Arial"/>
              </a:rPr>
              <a:t>Build agents that talk to strangers' agents.</a:t>
            </a:r>
          </a:p>
          <a:p>
            <a:pPr>
              <a:lnSpc>
                <a:spcPct val="105000"/>
              </a:lnSpc>
              <a:spcAft>
                <a:spcPts val="1600"/>
              </a:spcAft>
            </a:pPr>
            <a:r>
              <a:rPr sz="3000" b="0">
                <a:solidFill>
                  <a:srgbClr val="E8F0EE"/>
                </a:solidFill>
                <a:latin typeface="Arial"/>
              </a:rPr>
              <a:t>Find them by ANS name. Verify first.</a:t>
            </a:r>
          </a:p>
          <a:p>
            <a:pPr>
              <a:lnSpc>
                <a:spcPct val="105000"/>
              </a:lnSpc>
              <a:spcAft>
                <a:spcPts val="1600"/>
              </a:spcAft>
            </a:pPr>
            <a:r>
              <a:rPr sz="3400" b="1">
                <a:solidFill>
                  <a:srgbClr val="2DD3B8"/>
                </a:solidFill>
                <a:latin typeface="Arial"/>
              </a:rPr>
              <a:t>That is the mesh. That is what wins.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45775" cy="1828800"/>
          </a:xfrm>
          <a:prstGeom prst="rect">
            <a:avLst/>
          </a:prstGeom>
          <a:noFill/>
        </p:spPr>
        <p:txBody>
          <a:bodyPr wrap="square">
            <a:spAutoFit/>
          </a:bodyPr>
          <a:lstStyle/>
          <a:p>
            <a:pPr>
              <a:lnSpc>
                <a:spcPct val="105000"/>
              </a:lnSpc>
              <a:spcAft>
                <a:spcPts val="1400"/>
              </a:spcAft>
            </a:pPr>
            <a:r>
              <a:rPr sz="5400" b="1">
                <a:solidFill>
                  <a:srgbClr val="FFFFFF"/>
                </a:solidFill>
                <a:latin typeface="Arial"/>
              </a:rPr>
              <a:t>The challenge.</a:t>
            </a:r>
          </a:p>
        </p:txBody>
      </p:sp>
      <p:sp>
        <p:nvSpPr>
          <p:cNvPr id="4" name="TextBox 3"/>
          <p:cNvSpPr txBox="1"/>
          <p:nvPr/>
        </p:nvSpPr>
        <p:spPr>
          <a:xfrm>
            <a:off x="822960" y="2148840"/>
            <a:ext cx="10545775" cy="3886200"/>
          </a:xfrm>
          <a:prstGeom prst="rect">
            <a:avLst/>
          </a:prstGeom>
          <a:noFill/>
        </p:spPr>
        <p:txBody>
          <a:bodyPr wrap="square">
            <a:spAutoFit/>
          </a:bodyPr>
          <a:lstStyle/>
          <a:p>
            <a:pPr>
              <a:lnSpc>
                <a:spcPct val="105000"/>
              </a:lnSpc>
              <a:spcAft>
                <a:spcPts val="1600"/>
              </a:spcAft>
            </a:pPr>
            <a:r>
              <a:rPr sz="2800" b="0">
                <a:solidFill>
                  <a:srgbClr val="E8F0EE"/>
                </a:solidFill>
                <a:latin typeface="Arial"/>
              </a:rPr>
              <a:t>Build agents that find each other, check each other, and work together across the open web.</a:t>
            </a:r>
          </a:p>
          <a:p>
            <a:pPr>
              <a:lnSpc>
                <a:spcPct val="105000"/>
              </a:lnSpc>
              <a:spcAft>
                <a:spcPts val="1600"/>
              </a:spcAft>
            </a:pPr>
            <a:r>
              <a:rPr sz="2800" b="0">
                <a:solidFill>
                  <a:srgbClr val="E8F0EE"/>
                </a:solidFill>
                <a:latin typeface="Arial"/>
              </a:rPr>
              <a:t>ANS proves who everyone is.</a:t>
            </a:r>
          </a:p>
          <a:p>
            <a:pPr>
              <a:lnSpc>
                <a:spcPct val="105000"/>
              </a:lnSpc>
              <a:spcAft>
                <a:spcPts val="1600"/>
              </a:spcAft>
            </a:pPr>
            <a:r>
              <a:rPr sz="2800" b="1">
                <a:solidFill>
                  <a:srgbClr val="2DD3B8"/>
                </a:solidFill>
                <a:latin typeface="Arial"/>
              </a:rPr>
              <a:t>The strongest entries make identity the core mechanic: agents that know who they're talking to, and can prove 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45775" cy="1828800"/>
          </a:xfrm>
          <a:prstGeom prst="rect">
            <a:avLst/>
          </a:prstGeom>
          <a:noFill/>
        </p:spPr>
        <p:txBody>
          <a:bodyPr wrap="square">
            <a:spAutoFit/>
          </a:bodyPr>
          <a:lstStyle/>
          <a:p>
            <a:pPr>
              <a:lnSpc>
                <a:spcPct val="105000"/>
              </a:lnSpc>
              <a:spcAft>
                <a:spcPts val="1400"/>
              </a:spcAft>
            </a:pPr>
            <a:r>
              <a:rPr sz="5400" b="1">
                <a:solidFill>
                  <a:srgbClr val="FFFFFF"/>
                </a:solidFill>
                <a:latin typeface="Arial"/>
              </a:rPr>
              <a:t>What could you build?</a:t>
            </a:r>
          </a:p>
        </p:txBody>
      </p:sp>
      <p:sp>
        <p:nvSpPr>
          <p:cNvPr id="4" name="TextBox 3"/>
          <p:cNvSpPr txBox="1"/>
          <p:nvPr/>
        </p:nvSpPr>
        <p:spPr>
          <a:xfrm>
            <a:off x="822960" y="2148840"/>
            <a:ext cx="10545775" cy="3886200"/>
          </a:xfrm>
          <a:prstGeom prst="rect">
            <a:avLst/>
          </a:prstGeom>
          <a:noFill/>
        </p:spPr>
        <p:txBody>
          <a:bodyPr wrap="square">
            <a:spAutoFit/>
          </a:bodyPr>
          <a:lstStyle/>
          <a:p>
            <a:pPr>
              <a:lnSpc>
                <a:spcPct val="105000"/>
              </a:lnSpc>
              <a:spcAft>
                <a:spcPts val="1600"/>
              </a:spcAft>
            </a:pPr>
            <a:r>
              <a:rPr sz="2600" b="0">
                <a:solidFill>
                  <a:srgbClr val="E8F0EE"/>
                </a:solidFill>
                <a:latin typeface="Arial"/>
              </a:rPr>
              <a:t>Agents that buy and sell from each other — and catch the impostor.</a:t>
            </a:r>
          </a:p>
          <a:p>
            <a:pPr>
              <a:lnSpc>
                <a:spcPct val="105000"/>
              </a:lnSpc>
              <a:spcAft>
                <a:spcPts val="1600"/>
              </a:spcAft>
            </a:pPr>
            <a:r>
              <a:rPr sz="2600" b="0">
                <a:solidFill>
                  <a:srgbClr val="E8F0EE"/>
                </a:solidFill>
                <a:latin typeface="Arial"/>
              </a:rPr>
              <a:t>Ticket resale where the buyer's agent spots the fake seller.</a:t>
            </a:r>
          </a:p>
          <a:p>
            <a:pPr>
              <a:lnSpc>
                <a:spcPct val="105000"/>
              </a:lnSpc>
              <a:spcAft>
                <a:spcPts val="1600"/>
              </a:spcAft>
            </a:pPr>
            <a:r>
              <a:rPr sz="2600" b="0">
                <a:solidFill>
                  <a:srgbClr val="E8F0EE"/>
                </a:solidFill>
                <a:latin typeface="Arial"/>
              </a:rPr>
              <a:t>A fantasy draft run entirely by team agents.</a:t>
            </a:r>
          </a:p>
          <a:p>
            <a:pPr>
              <a:lnSpc>
                <a:spcPct val="105000"/>
              </a:lnSpc>
              <a:spcAft>
                <a:spcPts val="1600"/>
              </a:spcAft>
            </a:pPr>
            <a:r>
              <a:rPr sz="2600" b="0">
                <a:solidFill>
                  <a:srgbClr val="E8F0EE"/>
                </a:solidFill>
                <a:latin typeface="Arial"/>
              </a:rPr>
              <a:t>Scheduling across companies, where every invite is verified.</a:t>
            </a:r>
          </a:p>
          <a:p>
            <a:pPr>
              <a:lnSpc>
                <a:spcPct val="105000"/>
              </a:lnSpc>
              <a:spcAft>
                <a:spcPts val="1600"/>
              </a:spcAft>
            </a:pPr>
            <a:r>
              <a:rPr sz="2600" b="0">
                <a:solidFill>
                  <a:srgbClr val="E8F0EE"/>
                </a:solidFill>
                <a:latin typeface="Arial"/>
              </a:rPr>
              <a:t>A capture-the-flag where the flag is a forged identity.</a:t>
            </a:r>
          </a:p>
          <a:p>
            <a:pPr>
              <a:lnSpc>
                <a:spcPct val="105000"/>
              </a:lnSpc>
              <a:spcAft>
                <a:spcPts val="1600"/>
              </a:spcAft>
            </a:pPr>
            <a:r>
              <a:rPr sz="2600" b="0">
                <a:solidFill>
                  <a:srgbClr val="E8F0EE"/>
                </a:solidFill>
                <a:latin typeface="Arial"/>
              </a:rPr>
              <a:t>Agents playing Diplomacy — lying is legal, but identity isn't.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45775" cy="1828800"/>
          </a:xfrm>
          <a:prstGeom prst="rect">
            <a:avLst/>
          </a:prstGeom>
          <a:noFill/>
        </p:spPr>
        <p:txBody>
          <a:bodyPr wrap="square">
            <a:spAutoFit/>
          </a:bodyPr>
          <a:lstStyle/>
          <a:p>
            <a:pPr>
              <a:lnSpc>
                <a:spcPct val="105000"/>
              </a:lnSpc>
              <a:spcAft>
                <a:spcPts val="1400"/>
              </a:spcAft>
            </a:pPr>
            <a:r>
              <a:rPr sz="5400" b="1">
                <a:solidFill>
                  <a:srgbClr val="FFFFFF"/>
                </a:solidFill>
                <a:latin typeface="Arial"/>
              </a:rPr>
              <a:t>fraud.webmesh.ai is already attacking.</a:t>
            </a:r>
          </a:p>
        </p:txBody>
      </p:sp>
      <p:sp>
        <p:nvSpPr>
          <p:cNvPr id="4" name="TextBox 3"/>
          <p:cNvSpPr txBox="1"/>
          <p:nvPr/>
        </p:nvSpPr>
        <p:spPr>
          <a:xfrm>
            <a:off x="822960" y="2148840"/>
            <a:ext cx="10545775" cy="3886200"/>
          </a:xfrm>
          <a:prstGeom prst="rect">
            <a:avLst/>
          </a:prstGeom>
          <a:noFill/>
        </p:spPr>
        <p:txBody>
          <a:bodyPr wrap="square">
            <a:spAutoFit/>
          </a:bodyPr>
          <a:lstStyle/>
          <a:p>
            <a:pPr>
              <a:lnSpc>
                <a:spcPct val="105000"/>
              </a:lnSpc>
              <a:spcAft>
                <a:spcPts val="1600"/>
              </a:spcAft>
            </a:pPr>
            <a:r>
              <a:rPr sz="3000" b="0">
                <a:solidFill>
                  <a:srgbClr val="E8F0EE"/>
                </a:solidFill>
                <a:latin typeface="Arial"/>
              </a:rPr>
              <a:t>13 attacks. Forged signatures. Replayed requests. Swapped quotes.</a:t>
            </a:r>
          </a:p>
          <a:p>
            <a:pPr>
              <a:lnSpc>
                <a:spcPct val="105000"/>
              </a:lnSpc>
              <a:spcAft>
                <a:spcPts val="1600"/>
              </a:spcAft>
            </a:pPr>
            <a:r>
              <a:rPr sz="3000" b="0">
                <a:solidFill>
                  <a:srgbClr val="E8F0EE"/>
                </a:solidFill>
                <a:latin typeface="Arial"/>
              </a:rPr>
              <a:t>Every attack must be BLOCKED.</a:t>
            </a:r>
          </a:p>
          <a:p>
            <a:pPr>
              <a:lnSpc>
                <a:spcPct val="105000"/>
              </a:lnSpc>
              <a:spcAft>
                <a:spcPts val="1600"/>
              </a:spcAft>
            </a:pPr>
            <a:r>
              <a:rPr sz="3000" b="0">
                <a:solidFill>
                  <a:srgbClr val="E8F0EE"/>
                </a:solidFill>
                <a:latin typeface="Arial"/>
              </a:rPr>
              <a:t>Inspect its card. Steal its playbook.</a:t>
            </a:r>
          </a:p>
          <a:p>
            <a:pPr>
              <a:lnSpc>
                <a:spcPct val="105000"/>
              </a:lnSpc>
              <a:spcAft>
                <a:spcPts val="1600"/>
              </a:spcAft>
            </a:pPr>
            <a:r>
              <a:rPr sz="3000" b="1">
                <a:solidFill>
                  <a:srgbClr val="2DD3B8"/>
                </a:solidFill>
                <a:latin typeface="Arial"/>
              </a:rPr>
              <a:t>Then bring your endpoint to our table — we will try to break it.</a:t>
            </a:r>
          </a:p>
        </p:txBody>
      </p:sp>
      <p:sp>
        <p:nvSpPr>
          <p:cNvPr id="5" name="TextBox 4"/>
          <p:cNvSpPr txBox="1"/>
          <p:nvPr/>
        </p:nvSpPr>
        <p:spPr>
          <a:xfrm>
            <a:off x="822960" y="5989320"/>
            <a:ext cx="10545775" cy="548640"/>
          </a:xfrm>
          <a:prstGeom prst="rect">
            <a:avLst/>
          </a:prstGeom>
          <a:noFill/>
        </p:spPr>
        <p:txBody>
          <a:bodyPr wrap="square">
            <a:spAutoFit/>
          </a:bodyPr>
          <a:lstStyle/>
          <a:p>
            <a:pPr>
              <a:lnSpc>
                <a:spcPct val="105000"/>
              </a:lnSpc>
              <a:spcAft>
                <a:spcPts val="1400"/>
              </a:spcAft>
            </a:pPr>
            <a:r>
              <a:rPr sz="1400" b="0">
                <a:solidFill>
                  <a:srgbClr val="8A9B98"/>
                </a:solidFill>
                <a:latin typeface="Arial"/>
              </a:rPr>
              <a:t>Live now: https://fraud.webmesh.ai/.well-known/agent-card.json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45775" cy="1828800"/>
          </a:xfrm>
          <a:prstGeom prst="rect">
            <a:avLst/>
          </a:prstGeom>
          <a:noFill/>
        </p:spPr>
        <p:txBody>
          <a:bodyPr wrap="square">
            <a:spAutoFit/>
          </a:bodyPr>
          <a:lstStyle/>
          <a:p>
            <a:pPr>
              <a:lnSpc>
                <a:spcPct val="105000"/>
              </a:lnSpc>
              <a:spcAft>
                <a:spcPts val="1400"/>
              </a:spcAft>
            </a:pPr>
            <a:r>
              <a:rPr sz="5400" b="1">
                <a:solidFill>
                  <a:srgbClr val="FFFFFF"/>
                </a:solidFill>
                <a:latin typeface="Arial"/>
              </a:rPr>
              <a:t>Make identity do the work.</a:t>
            </a:r>
          </a:p>
        </p:txBody>
      </p:sp>
      <p:sp>
        <p:nvSpPr>
          <p:cNvPr id="4" name="TextBox 3"/>
          <p:cNvSpPr txBox="1"/>
          <p:nvPr/>
        </p:nvSpPr>
        <p:spPr>
          <a:xfrm>
            <a:off x="822960" y="2148840"/>
            <a:ext cx="10545775" cy="3886200"/>
          </a:xfrm>
          <a:prstGeom prst="rect">
            <a:avLst/>
          </a:prstGeom>
          <a:noFill/>
        </p:spPr>
        <p:txBody>
          <a:bodyPr wrap="square">
            <a:spAutoFit/>
          </a:bodyPr>
          <a:lstStyle/>
          <a:p>
            <a:pPr>
              <a:lnSpc>
                <a:spcPct val="105000"/>
              </a:lnSpc>
              <a:spcAft>
                <a:spcPts val="1600"/>
              </a:spcAft>
            </a:pPr>
            <a:r>
              <a:rPr sz="3000" b="0">
                <a:solidFill>
                  <a:srgbClr val="E8F0EE"/>
                </a:solidFill>
                <a:latin typeface="Arial"/>
              </a:rPr>
              <a:t>Show the success path and the refusal path.</a:t>
            </a:r>
          </a:p>
          <a:p>
            <a:pPr>
              <a:lnSpc>
                <a:spcPct val="105000"/>
              </a:lnSpc>
              <a:spcAft>
                <a:spcPts val="1600"/>
              </a:spcAft>
            </a:pPr>
            <a:r>
              <a:rPr sz="3000" b="0">
                <a:solidFill>
                  <a:srgbClr val="E8F0EE"/>
                </a:solidFill>
                <a:latin typeface="Arial"/>
              </a:rPr>
              <a:t>Show the evidence, not just the demo.</a:t>
            </a:r>
          </a:p>
          <a:p>
            <a:pPr>
              <a:lnSpc>
                <a:spcPct val="105000"/>
              </a:lnSpc>
              <a:spcAft>
                <a:spcPts val="1600"/>
              </a:spcAft>
            </a:pPr>
            <a:r>
              <a:rPr sz="3000" b="1">
                <a:solidFill>
                  <a:srgbClr val="2DD3B8"/>
                </a:solidFill>
                <a:latin typeface="Arial"/>
              </a:rPr>
              <a:t>Name your threat model and the tradeoff you chose.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45775" cy="1828800"/>
          </a:xfrm>
          <a:prstGeom prst="rect">
            <a:avLst/>
          </a:prstGeom>
          <a:noFill/>
        </p:spPr>
        <p:txBody>
          <a:bodyPr wrap="square">
            <a:spAutoFit/>
          </a:bodyPr>
          <a:lstStyle/>
          <a:p>
            <a:pPr>
              <a:lnSpc>
                <a:spcPct val="105000"/>
              </a:lnSpc>
              <a:spcAft>
                <a:spcPts val="1400"/>
              </a:spcAft>
            </a:pPr>
            <a:r>
              <a:rPr sz="5400" b="1">
                <a:solidFill>
                  <a:srgbClr val="FFFFFF"/>
                </a:solidFill>
                <a:latin typeface="Arial"/>
              </a:rPr>
              <a:t>Best Use of ANS</a:t>
            </a:r>
          </a:p>
        </p:txBody>
      </p:sp>
      <p:sp>
        <p:nvSpPr>
          <p:cNvPr id="4" name="TextBox 3"/>
          <p:cNvSpPr txBox="1"/>
          <p:nvPr/>
        </p:nvSpPr>
        <p:spPr>
          <a:xfrm>
            <a:off x="822960" y="2148840"/>
            <a:ext cx="10545775" cy="3886200"/>
          </a:xfrm>
          <a:prstGeom prst="rect">
            <a:avLst/>
          </a:prstGeom>
          <a:noFill/>
        </p:spPr>
        <p:txBody>
          <a:bodyPr wrap="square">
            <a:spAutoFit/>
          </a:bodyPr>
          <a:lstStyle/>
          <a:p>
            <a:pPr>
              <a:lnSpc>
                <a:spcPct val="105000"/>
              </a:lnSpc>
              <a:spcAft>
                <a:spcPts val="1600"/>
              </a:spcAft>
            </a:pPr>
            <a:r>
              <a:rPr sz="3200" b="1">
                <a:solidFill>
                  <a:srgbClr val="FFFFFF"/>
                </a:solidFill>
                <a:latin typeface="Arial"/>
              </a:rPr>
              <a:t>1st — Meta Ray-Ban Gen 2 smart glasses</a:t>
            </a:r>
          </a:p>
          <a:p>
            <a:pPr>
              <a:lnSpc>
                <a:spcPct val="105000"/>
              </a:lnSpc>
              <a:spcAft>
                <a:spcPts val="1600"/>
              </a:spcAft>
            </a:pPr>
            <a:r>
              <a:rPr sz="3200" b="1">
                <a:solidFill>
                  <a:srgbClr val="FFFFFF"/>
                </a:solidFill>
                <a:latin typeface="Arial"/>
              </a:rPr>
              <a:t>2nd — Beats Studio Pro</a:t>
            </a:r>
          </a:p>
          <a:p>
            <a:pPr>
              <a:lnSpc>
                <a:spcPct val="105000"/>
              </a:lnSpc>
              <a:spcAft>
                <a:spcPts val="1600"/>
              </a:spcAft>
            </a:pPr>
            <a:r>
              <a:rPr sz="3200" b="1">
                <a:solidFill>
                  <a:srgbClr val="FFFFFF"/>
                </a:solidFill>
                <a:latin typeface="Arial"/>
              </a:rPr>
              <a:t>3rd — Cocopar 15.6″ portable monitor</a:t>
            </a:r>
          </a:p>
          <a:p>
            <a:pPr>
              <a:lnSpc>
                <a:spcPct val="105000"/>
              </a:lnSpc>
              <a:spcAft>
                <a:spcPts val="1600"/>
              </a:spcAft>
            </a:pPr>
            <a:r>
              <a:rPr sz="3000" b="1">
                <a:solidFill>
                  <a:srgbClr val="2DD3B8"/>
                </a:solidFill>
                <a:latin typeface="Arial"/>
              </a:rPr>
              <a:t>For each winning-team member.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45775" cy="1828800"/>
          </a:xfrm>
          <a:prstGeom prst="rect">
            <a:avLst/>
          </a:prstGeom>
          <a:noFill/>
        </p:spPr>
        <p:txBody>
          <a:bodyPr wrap="square">
            <a:spAutoFit/>
          </a:bodyPr>
          <a:lstStyle/>
          <a:p>
            <a:pPr>
              <a:lnSpc>
                <a:spcPct val="105000"/>
              </a:lnSpc>
              <a:spcAft>
                <a:spcPts val="1400"/>
              </a:spcAft>
            </a:pPr>
            <a:r>
              <a:rPr sz="5400" b="1">
                <a:solidFill>
                  <a:srgbClr val="FFFFFF"/>
                </a:solidFill>
                <a:latin typeface="Arial"/>
              </a:rPr>
              <a:t>Ship by Sunday, 8 AM.</a:t>
            </a:r>
          </a:p>
        </p:txBody>
      </p:sp>
      <p:sp>
        <p:nvSpPr>
          <p:cNvPr id="4" name="TextBox 3"/>
          <p:cNvSpPr txBox="1"/>
          <p:nvPr/>
        </p:nvSpPr>
        <p:spPr>
          <a:xfrm>
            <a:off x="822960" y="2148840"/>
            <a:ext cx="10545775" cy="3886200"/>
          </a:xfrm>
          <a:prstGeom prst="rect">
            <a:avLst/>
          </a:prstGeom>
          <a:noFill/>
        </p:spPr>
        <p:txBody>
          <a:bodyPr wrap="square">
            <a:spAutoFit/>
          </a:bodyPr>
          <a:lstStyle/>
          <a:p>
            <a:pPr>
              <a:lnSpc>
                <a:spcPct val="105000"/>
              </a:lnSpc>
              <a:spcAft>
                <a:spcPts val="1600"/>
              </a:spcAft>
            </a:pPr>
            <a:r>
              <a:rPr sz="3000" b="0">
                <a:solidFill>
                  <a:srgbClr val="E8F0EE"/>
                </a:solidFill>
                <a:latin typeface="Arial"/>
              </a:rPr>
              <a:t>Use ANS. Public repo. Working demo.</a:t>
            </a:r>
          </a:p>
          <a:p>
            <a:pPr>
              <a:lnSpc>
                <a:spcPct val="105000"/>
              </a:lnSpc>
              <a:spcAft>
                <a:spcPts val="1600"/>
              </a:spcAft>
            </a:pPr>
            <a:r>
              <a:rPr sz="3000" b="0">
                <a:solidFill>
                  <a:srgbClr val="E8F0EE"/>
                </a:solidFill>
                <a:latin typeface="Arial"/>
              </a:rPr>
              <a:t>Opt into the GoDaddy categories on Devpost.</a:t>
            </a:r>
          </a:p>
          <a:p>
            <a:pPr>
              <a:lnSpc>
                <a:spcPct val="105000"/>
              </a:lnSpc>
              <a:spcAft>
                <a:spcPts val="1600"/>
              </a:spcAft>
            </a:pPr>
            <a:r>
              <a:rPr sz="3200" b="1">
                <a:solidFill>
                  <a:srgbClr val="2DD3B8"/>
                </a:solidFill>
                <a:latin typeface="Arial"/>
              </a:rPr>
              <a:t>vthacks-14.devpost.com</a:t>
            </a:r>
          </a:p>
        </p:txBody>
      </p:sp>
      <p:sp>
        <p:nvSpPr>
          <p:cNvPr id="5" name="TextBox 4"/>
          <p:cNvSpPr txBox="1"/>
          <p:nvPr/>
        </p:nvSpPr>
        <p:spPr>
          <a:xfrm>
            <a:off x="822960" y="5989320"/>
            <a:ext cx="10545775" cy="548640"/>
          </a:xfrm>
          <a:prstGeom prst="rect">
            <a:avLst/>
          </a:prstGeom>
          <a:noFill/>
        </p:spPr>
        <p:txBody>
          <a:bodyPr wrap="square">
            <a:spAutoFit/>
          </a:bodyPr>
          <a:lstStyle/>
          <a:p>
            <a:pPr>
              <a:lnSpc>
                <a:spcPct val="105000"/>
              </a:lnSpc>
              <a:spcAft>
                <a:spcPts val="1400"/>
              </a:spcAft>
            </a:pPr>
            <a:r>
              <a:rPr sz="1400" b="0">
                <a:solidFill>
                  <a:srgbClr val="8A9B98"/>
                </a:solidFill>
                <a:latin typeface="Arial"/>
              </a:rPr>
              <a:t>Judging Sunday 10:30 AM  ·  New Classroom Building  ·  science-fair format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45775" cy="1828800"/>
          </a:xfrm>
          <a:prstGeom prst="rect">
            <a:avLst/>
          </a:prstGeom>
          <a:noFill/>
        </p:spPr>
        <p:txBody>
          <a:bodyPr wrap="square">
            <a:spAutoFit/>
          </a:bodyPr>
          <a:lstStyle/>
          <a:p>
            <a:pPr>
              <a:lnSpc>
                <a:spcPct val="105000"/>
              </a:lnSpc>
              <a:spcAft>
                <a:spcPts val="1400"/>
              </a:spcAft>
            </a:pPr>
            <a:r>
              <a:rPr sz="5400" b="1">
                <a:solidFill>
                  <a:srgbClr val="FFFFFF"/>
                </a:solidFill>
                <a:latin typeface="Arial"/>
              </a:rPr>
              <a:t>Your free domain is your identity anchor.</a:t>
            </a:r>
          </a:p>
        </p:txBody>
      </p:sp>
      <p:sp>
        <p:nvSpPr>
          <p:cNvPr id="4" name="TextBox 3"/>
          <p:cNvSpPr txBox="1"/>
          <p:nvPr/>
        </p:nvSpPr>
        <p:spPr>
          <a:xfrm>
            <a:off x="822960" y="2148840"/>
            <a:ext cx="10545775" cy="3886200"/>
          </a:xfrm>
          <a:prstGeom prst="rect">
            <a:avLst/>
          </a:prstGeom>
          <a:noFill/>
        </p:spPr>
        <p:txBody>
          <a:bodyPr wrap="square">
            <a:spAutoFit/>
          </a:bodyPr>
          <a:lstStyle/>
          <a:p>
            <a:pPr>
              <a:lnSpc>
                <a:spcPct val="105000"/>
              </a:lnSpc>
              <a:spcAft>
                <a:spcPts val="1600"/>
              </a:spcAft>
            </a:pPr>
            <a:r>
              <a:rPr sz="2800" b="0">
                <a:solidFill>
                  <a:srgbClr val="E8F0EE"/>
                </a:solidFill>
                <a:latin typeface="Arial"/>
              </a:rPr>
              <a:t>1.  Claim your free weekend domain — the MLH coupon</a:t>
            </a:r>
          </a:p>
          <a:p>
            <a:pPr>
              <a:lnSpc>
                <a:spcPct val="105000"/>
              </a:lnSpc>
              <a:spcAft>
                <a:spcPts val="1600"/>
              </a:spcAft>
            </a:pPr>
            <a:r>
              <a:rPr sz="2800" b="0">
                <a:solidFill>
                  <a:srgbClr val="E8F0EE"/>
                </a:solidFill>
                <a:latin typeface="Arial"/>
              </a:rPr>
              <a:t>2.  Install the CLI</a:t>
            </a:r>
          </a:p>
          <a:p>
            <a:pPr>
              <a:lnSpc>
                <a:spcPct val="105000"/>
              </a:lnSpc>
              <a:spcAft>
                <a:spcPts val="1600"/>
              </a:spcAft>
            </a:pPr>
            <a:r>
              <a:rPr sz="2800" b="0">
                <a:solidFill>
                  <a:srgbClr val="E8F0EE"/>
                </a:solidFill>
                <a:latin typeface="Arial"/>
              </a:rPr>
              <a:t>3.  Register one agent</a:t>
            </a:r>
          </a:p>
          <a:p>
            <a:pPr>
              <a:lnSpc>
                <a:spcPct val="105000"/>
              </a:lnSpc>
              <a:spcAft>
                <a:spcPts val="1600"/>
              </a:spcAft>
            </a:pPr>
            <a:r>
              <a:rPr sz="3000" b="1">
                <a:solidFill>
                  <a:srgbClr val="2DD3B8"/>
                </a:solidFill>
                <a:latin typeface="Arial"/>
              </a:rPr>
              <a:t>4.  Break it, then fix it</a:t>
            </a:r>
          </a:p>
        </p:txBody>
      </p:sp>
      <p:sp>
        <p:nvSpPr>
          <p:cNvPr id="5" name="TextBox 4"/>
          <p:cNvSpPr txBox="1"/>
          <p:nvPr/>
        </p:nvSpPr>
        <p:spPr>
          <a:xfrm>
            <a:off x="822960" y="5989320"/>
            <a:ext cx="10545775" cy="548640"/>
          </a:xfrm>
          <a:prstGeom prst="rect">
            <a:avLst/>
          </a:prstGeom>
          <a:noFill/>
        </p:spPr>
        <p:txBody>
          <a:bodyPr wrap="square">
            <a:spAutoFit/>
          </a:bodyPr>
          <a:lstStyle/>
          <a:p>
            <a:pPr>
              <a:lnSpc>
                <a:spcPct val="105000"/>
              </a:lnSpc>
              <a:spcAft>
                <a:spcPts val="1400"/>
              </a:spcAft>
            </a:pPr>
            <a:r>
              <a:rPr sz="1400" b="0">
                <a:solidFill>
                  <a:srgbClr val="8A9B98"/>
                </a:solidFill>
                <a:latin typeface="Arial"/>
              </a:rPr>
              <a:t>First evidence on screen within the hour.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45775" cy="1828800"/>
          </a:xfrm>
          <a:prstGeom prst="rect">
            <a:avLst/>
          </a:prstGeom>
          <a:noFill/>
        </p:spPr>
        <p:txBody>
          <a:bodyPr wrap="square">
            <a:spAutoFit/>
          </a:bodyPr>
          <a:lstStyle/>
          <a:p>
            <a:pPr>
              <a:lnSpc>
                <a:spcPct val="105000"/>
              </a:lnSpc>
              <a:spcAft>
                <a:spcPts val="1400"/>
              </a:spcAft>
            </a:pPr>
            <a:r>
              <a:rPr sz="5400" b="1">
                <a:solidFill>
                  <a:srgbClr val="FFFFFF"/>
                </a:solidFill>
                <a:latin typeface="Arial"/>
              </a:rPr>
              <a:t>Where to get help.</a:t>
            </a:r>
          </a:p>
        </p:txBody>
      </p:sp>
      <p:sp>
        <p:nvSpPr>
          <p:cNvPr id="4" name="TextBox 3"/>
          <p:cNvSpPr txBox="1"/>
          <p:nvPr/>
        </p:nvSpPr>
        <p:spPr>
          <a:xfrm>
            <a:off x="822960" y="2148840"/>
            <a:ext cx="5852160" cy="3291840"/>
          </a:xfrm>
          <a:prstGeom prst="rect">
            <a:avLst/>
          </a:prstGeom>
          <a:noFill/>
        </p:spPr>
        <p:txBody>
          <a:bodyPr wrap="square">
            <a:spAutoFit/>
          </a:bodyPr>
          <a:lstStyle/>
          <a:p>
            <a:pPr>
              <a:lnSpc>
                <a:spcPct val="105000"/>
              </a:lnSpc>
              <a:spcAft>
                <a:spcPts val="1600"/>
              </a:spcAft>
            </a:pPr>
            <a:r>
              <a:rPr sz="3000" b="1">
                <a:solidFill>
                  <a:srgbClr val="2DD3B8"/>
                </a:solidFill>
                <a:latin typeface="Arial"/>
              </a:rPr>
              <a:t>#godaddy on the VTHacks Discord</a:t>
            </a:r>
          </a:p>
          <a:p>
            <a:pPr>
              <a:lnSpc>
                <a:spcPct val="105000"/>
              </a:lnSpc>
              <a:spcAft>
                <a:spcPts val="1600"/>
              </a:spcAft>
            </a:pPr>
            <a:r>
              <a:rPr sz="3000" b="0">
                <a:solidFill>
                  <a:srgbClr val="E8F0EE"/>
                </a:solidFill>
                <a:latin typeface="Arial"/>
              </a:rPr>
              <a:t>GoDaddy tables · Saturday 1:00–3:30 PM</a:t>
            </a:r>
          </a:p>
          <a:p>
            <a:pPr>
              <a:lnSpc>
                <a:spcPct val="105000"/>
              </a:lnSpc>
              <a:spcAft>
                <a:spcPts val="1600"/>
              </a:spcAft>
            </a:pPr>
            <a:r>
              <a:rPr sz="3000" b="0">
                <a:solidFill>
                  <a:srgbClr val="E8F0EE"/>
                </a:solidFill>
                <a:latin typeface="Arial"/>
              </a:rPr>
              <a:t>Workshop #2 · Sat 4:30 PM · hands-on</a:t>
            </a:r>
          </a:p>
          <a:p>
            <a:pPr>
              <a:lnSpc>
                <a:spcPct val="105000"/>
              </a:lnSpc>
              <a:spcAft>
                <a:spcPts val="1600"/>
              </a:spcAft>
            </a:pPr>
            <a:r>
              <a:rPr sz="2600" b="0">
                <a:solidFill>
                  <a:srgbClr val="E8F0EE"/>
                </a:solidFill>
                <a:latin typeface="Arial"/>
              </a:rPr>
              <a:t>developer.godaddy.com/doc/endpoint/ans</a:t>
            </a:r>
          </a:p>
        </p:txBody>
      </p:sp>
      <p:pic>
        <p:nvPicPr>
          <p:cNvPr id="5" name="Picture 4" descr="linkedin.png"/>
          <p:cNvPicPr>
            <a:picLocks noChangeAspect="1"/>
          </p:cNvPicPr>
          <p:nvPr/>
        </p:nvPicPr>
        <p:blipFill>
          <a:blip r:embed="rId2"/>
          <a:stretch>
            <a:fillRect/>
          </a:stretch>
        </p:blipFill>
        <p:spPr>
          <a:xfrm>
            <a:off x="8549640" y="1965960"/>
            <a:ext cx="2651760" cy="2651760"/>
          </a:xfrm>
          <a:prstGeom prst="rect">
            <a:avLst/>
          </a:prstGeom>
        </p:spPr>
      </p:pic>
      <p:sp>
        <p:nvSpPr>
          <p:cNvPr id="6" name="TextBox 5"/>
          <p:cNvSpPr txBox="1"/>
          <p:nvPr/>
        </p:nvSpPr>
        <p:spPr>
          <a:xfrm>
            <a:off x="8549640" y="4727448"/>
            <a:ext cx="2651760" cy="1280160"/>
          </a:xfrm>
          <a:prstGeom prst="rect">
            <a:avLst/>
          </a:prstGeom>
          <a:noFill/>
        </p:spPr>
        <p:txBody>
          <a:bodyPr wrap="square">
            <a:spAutoFit/>
          </a:bodyPr>
          <a:lstStyle/>
          <a:p>
            <a:pPr>
              <a:lnSpc>
                <a:spcPct val="105000"/>
              </a:lnSpc>
              <a:spcAft>
                <a:spcPts val="200"/>
              </a:spcAft>
            </a:pPr>
            <a:r>
              <a:rPr sz="1800" b="1">
                <a:solidFill>
                  <a:srgbClr val="FFFFFF"/>
                </a:solidFill>
                <a:latin typeface="Arial"/>
              </a:rPr>
              <a:t>Connect with me</a:t>
            </a:r>
          </a:p>
          <a:p>
            <a:pPr>
              <a:lnSpc>
                <a:spcPct val="105000"/>
              </a:lnSpc>
              <a:spcAft>
                <a:spcPts val="0"/>
              </a:spcAft>
            </a:pPr>
            <a:r>
              <a:rPr sz="1200" b="0">
                <a:solidFill>
                  <a:srgbClr val="8A9B98"/>
                </a:solidFill>
                <a:latin typeface="Arial"/>
              </a:rPr>
              <a:t>linkedin.com/in/scottbcourtney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45775" cy="1463040"/>
          </a:xfrm>
          <a:prstGeom prst="rect">
            <a:avLst/>
          </a:prstGeom>
          <a:noFill/>
        </p:spPr>
        <p:txBody>
          <a:bodyPr wrap="square">
            <a:spAutoFit/>
          </a:bodyPr>
          <a:lstStyle/>
          <a:p>
            <a:pPr>
              <a:lnSpc>
                <a:spcPct val="105000"/>
              </a:lnSpc>
              <a:spcAft>
                <a:spcPts val="1400"/>
              </a:spcAft>
            </a:pPr>
            <a:r>
              <a:rPr sz="5400" b="1">
                <a:solidFill>
                  <a:srgbClr val="FFFFFF"/>
                </a:solidFill>
                <a:latin typeface="Arial"/>
              </a:rPr>
              <a:t>Take the code.</a:t>
            </a:r>
          </a:p>
          <a:p>
            <a:pPr>
              <a:lnSpc>
                <a:spcPct val="105000"/>
              </a:lnSpc>
              <a:spcAft>
                <a:spcPts val="0"/>
              </a:spcAft>
            </a:pPr>
            <a:r>
              <a:rPr sz="2400" b="0">
                <a:solidFill>
                  <a:srgbClr val="2DD3B8"/>
                </a:solidFill>
                <a:latin typeface="Arial"/>
              </a:rPr>
              <a:t>github.com/agentnameservice  ·  webmesh.ai</a:t>
            </a:r>
          </a:p>
        </p:txBody>
      </p:sp>
      <p:pic>
        <p:nvPicPr>
          <p:cNvPr id="4" name="Picture 3" descr="ans-registry.png"/>
          <p:cNvPicPr>
            <a:picLocks noChangeAspect="1"/>
          </p:cNvPicPr>
          <p:nvPr/>
        </p:nvPicPr>
        <p:blipFill>
          <a:blip r:embed="rId2"/>
          <a:stretch>
            <a:fillRect/>
          </a:stretch>
        </p:blipFill>
        <p:spPr>
          <a:xfrm>
            <a:off x="822960" y="2377440"/>
            <a:ext cx="1691640" cy="1691640"/>
          </a:xfrm>
          <a:prstGeom prst="rect">
            <a:avLst/>
          </a:prstGeom>
        </p:spPr>
      </p:pic>
      <p:sp>
        <p:nvSpPr>
          <p:cNvPr id="5" name="TextBox 4"/>
          <p:cNvSpPr txBox="1"/>
          <p:nvPr/>
        </p:nvSpPr>
        <p:spPr>
          <a:xfrm>
            <a:off x="822960" y="4178808"/>
            <a:ext cx="1691640" cy="1280160"/>
          </a:xfrm>
          <a:prstGeom prst="rect">
            <a:avLst/>
          </a:prstGeom>
          <a:noFill/>
        </p:spPr>
        <p:txBody>
          <a:bodyPr wrap="square">
            <a:spAutoFit/>
          </a:bodyPr>
          <a:lstStyle/>
          <a:p>
            <a:pPr>
              <a:lnSpc>
                <a:spcPct val="105000"/>
              </a:lnSpc>
              <a:spcAft>
                <a:spcPts val="200"/>
              </a:spcAft>
            </a:pPr>
            <a:r>
              <a:rPr sz="1800" b="1">
                <a:solidFill>
                  <a:srgbClr val="FFFFFF"/>
                </a:solidFill>
                <a:latin typeface="Arial"/>
              </a:rPr>
              <a:t>Specs</a:t>
            </a:r>
          </a:p>
          <a:p>
            <a:pPr>
              <a:lnSpc>
                <a:spcPct val="105000"/>
              </a:lnSpc>
              <a:spcAft>
                <a:spcPts val="0"/>
              </a:spcAft>
            </a:pPr>
            <a:r>
              <a:rPr sz="1200" b="0">
                <a:solidFill>
                  <a:srgbClr val="8A9B98"/>
                </a:solidFill>
                <a:latin typeface="Arial"/>
              </a:rPr>
              <a:t>ans-registry</a:t>
            </a:r>
          </a:p>
        </p:txBody>
      </p:sp>
      <p:pic>
        <p:nvPicPr>
          <p:cNvPr id="6" name="Picture 5" descr="ans.png"/>
          <p:cNvPicPr>
            <a:picLocks noChangeAspect="1"/>
          </p:cNvPicPr>
          <p:nvPr/>
        </p:nvPicPr>
        <p:blipFill>
          <a:blip r:embed="rId3"/>
          <a:stretch>
            <a:fillRect/>
          </a:stretch>
        </p:blipFill>
        <p:spPr>
          <a:xfrm>
            <a:off x="2971800" y="2377440"/>
            <a:ext cx="1691640" cy="1691640"/>
          </a:xfrm>
          <a:prstGeom prst="rect">
            <a:avLst/>
          </a:prstGeom>
        </p:spPr>
      </p:pic>
      <p:sp>
        <p:nvSpPr>
          <p:cNvPr id="7" name="TextBox 6"/>
          <p:cNvSpPr txBox="1"/>
          <p:nvPr/>
        </p:nvSpPr>
        <p:spPr>
          <a:xfrm>
            <a:off x="2971800" y="4178808"/>
            <a:ext cx="1691640" cy="1280160"/>
          </a:xfrm>
          <a:prstGeom prst="rect">
            <a:avLst/>
          </a:prstGeom>
          <a:noFill/>
        </p:spPr>
        <p:txBody>
          <a:bodyPr wrap="square">
            <a:spAutoFit/>
          </a:bodyPr>
          <a:lstStyle/>
          <a:p>
            <a:pPr>
              <a:lnSpc>
                <a:spcPct val="105000"/>
              </a:lnSpc>
              <a:spcAft>
                <a:spcPts val="200"/>
              </a:spcAft>
            </a:pPr>
            <a:r>
              <a:rPr sz="1800" b="1">
                <a:solidFill>
                  <a:srgbClr val="FFFFFF"/>
                </a:solidFill>
                <a:latin typeface="Arial"/>
              </a:rPr>
              <a:t>Reference</a:t>
            </a:r>
          </a:p>
          <a:p>
            <a:pPr>
              <a:lnSpc>
                <a:spcPct val="105000"/>
              </a:lnSpc>
              <a:spcAft>
                <a:spcPts val="0"/>
              </a:spcAft>
            </a:pPr>
            <a:r>
              <a:rPr sz="1200" b="0">
                <a:solidFill>
                  <a:srgbClr val="8A9B98"/>
                </a:solidFill>
                <a:latin typeface="Arial"/>
              </a:rPr>
              <a:t>ans</a:t>
            </a:r>
          </a:p>
        </p:txBody>
      </p:sp>
      <p:pic>
        <p:nvPicPr>
          <p:cNvPr id="8" name="Picture 7" descr="ans-sdk-go.png"/>
          <p:cNvPicPr>
            <a:picLocks noChangeAspect="1"/>
          </p:cNvPicPr>
          <p:nvPr/>
        </p:nvPicPr>
        <p:blipFill>
          <a:blip r:embed="rId4"/>
          <a:stretch>
            <a:fillRect/>
          </a:stretch>
        </p:blipFill>
        <p:spPr>
          <a:xfrm>
            <a:off x="5120640" y="2377440"/>
            <a:ext cx="1691640" cy="1691640"/>
          </a:xfrm>
          <a:prstGeom prst="rect">
            <a:avLst/>
          </a:prstGeom>
        </p:spPr>
      </p:pic>
      <p:sp>
        <p:nvSpPr>
          <p:cNvPr id="9" name="TextBox 8"/>
          <p:cNvSpPr txBox="1"/>
          <p:nvPr/>
        </p:nvSpPr>
        <p:spPr>
          <a:xfrm>
            <a:off x="5120640" y="4178808"/>
            <a:ext cx="1691640" cy="1280160"/>
          </a:xfrm>
          <a:prstGeom prst="rect">
            <a:avLst/>
          </a:prstGeom>
          <a:noFill/>
        </p:spPr>
        <p:txBody>
          <a:bodyPr wrap="square">
            <a:spAutoFit/>
          </a:bodyPr>
          <a:lstStyle/>
          <a:p>
            <a:pPr>
              <a:lnSpc>
                <a:spcPct val="105000"/>
              </a:lnSpc>
              <a:spcAft>
                <a:spcPts val="200"/>
              </a:spcAft>
            </a:pPr>
            <a:r>
              <a:rPr sz="1800" b="1">
                <a:solidFill>
                  <a:srgbClr val="FFFFFF"/>
                </a:solidFill>
                <a:latin typeface="Arial"/>
              </a:rPr>
              <a:t>CLI / SDK</a:t>
            </a:r>
          </a:p>
          <a:p>
            <a:pPr>
              <a:lnSpc>
                <a:spcPct val="105000"/>
              </a:lnSpc>
              <a:spcAft>
                <a:spcPts val="0"/>
              </a:spcAft>
            </a:pPr>
            <a:r>
              <a:rPr sz="1200" b="0">
                <a:solidFill>
                  <a:srgbClr val="8A9B98"/>
                </a:solidFill>
                <a:latin typeface="Arial"/>
              </a:rPr>
              <a:t>ans-sdk-go</a:t>
            </a:r>
          </a:p>
        </p:txBody>
      </p:sp>
      <p:pic>
        <p:nvPicPr>
          <p:cNvPr id="10" name="Picture 9" descr="agent-trust-discovery.png"/>
          <p:cNvPicPr>
            <a:picLocks noChangeAspect="1"/>
          </p:cNvPicPr>
          <p:nvPr/>
        </p:nvPicPr>
        <p:blipFill>
          <a:blip r:embed="rId5"/>
          <a:stretch>
            <a:fillRect/>
          </a:stretch>
        </p:blipFill>
        <p:spPr>
          <a:xfrm>
            <a:off x="7269479" y="2377440"/>
            <a:ext cx="1691640" cy="1691640"/>
          </a:xfrm>
          <a:prstGeom prst="rect">
            <a:avLst/>
          </a:prstGeom>
        </p:spPr>
      </p:pic>
      <p:sp>
        <p:nvSpPr>
          <p:cNvPr id="11" name="TextBox 10"/>
          <p:cNvSpPr txBox="1"/>
          <p:nvPr/>
        </p:nvSpPr>
        <p:spPr>
          <a:xfrm>
            <a:off x="7269479" y="4178808"/>
            <a:ext cx="1691640" cy="1280160"/>
          </a:xfrm>
          <a:prstGeom prst="rect">
            <a:avLst/>
          </a:prstGeom>
          <a:noFill/>
        </p:spPr>
        <p:txBody>
          <a:bodyPr wrap="square">
            <a:spAutoFit/>
          </a:bodyPr>
          <a:lstStyle/>
          <a:p>
            <a:pPr>
              <a:lnSpc>
                <a:spcPct val="105000"/>
              </a:lnSpc>
              <a:spcAft>
                <a:spcPts val="200"/>
              </a:spcAft>
            </a:pPr>
            <a:r>
              <a:rPr sz="1800" b="1">
                <a:solidFill>
                  <a:srgbClr val="FFFFFF"/>
                </a:solidFill>
                <a:latin typeface="Arial"/>
              </a:rPr>
              <a:t>Trust Index</a:t>
            </a:r>
          </a:p>
          <a:p>
            <a:pPr>
              <a:lnSpc>
                <a:spcPct val="105000"/>
              </a:lnSpc>
              <a:spcAft>
                <a:spcPts val="0"/>
              </a:spcAft>
            </a:pPr>
            <a:r>
              <a:rPr sz="1200" b="0">
                <a:solidFill>
                  <a:srgbClr val="8A9B98"/>
                </a:solidFill>
                <a:latin typeface="Arial"/>
              </a:rPr>
              <a:t>agent-trust-discovery</a:t>
            </a:r>
          </a:p>
        </p:txBody>
      </p:sp>
      <p:pic>
        <p:nvPicPr>
          <p:cNvPr id="12" name="Picture 11" descr="webmesh.png"/>
          <p:cNvPicPr>
            <a:picLocks noChangeAspect="1"/>
          </p:cNvPicPr>
          <p:nvPr/>
        </p:nvPicPr>
        <p:blipFill>
          <a:blip r:embed="rId6"/>
          <a:stretch>
            <a:fillRect/>
          </a:stretch>
        </p:blipFill>
        <p:spPr>
          <a:xfrm>
            <a:off x="9418319" y="2377440"/>
            <a:ext cx="1691640" cy="1691640"/>
          </a:xfrm>
          <a:prstGeom prst="rect">
            <a:avLst/>
          </a:prstGeom>
        </p:spPr>
      </p:pic>
      <p:sp>
        <p:nvSpPr>
          <p:cNvPr id="13" name="TextBox 12"/>
          <p:cNvSpPr txBox="1"/>
          <p:nvPr/>
        </p:nvSpPr>
        <p:spPr>
          <a:xfrm>
            <a:off x="9418319" y="4178808"/>
            <a:ext cx="1691640" cy="1280160"/>
          </a:xfrm>
          <a:prstGeom prst="rect">
            <a:avLst/>
          </a:prstGeom>
          <a:noFill/>
        </p:spPr>
        <p:txBody>
          <a:bodyPr wrap="square">
            <a:spAutoFit/>
          </a:bodyPr>
          <a:lstStyle/>
          <a:p>
            <a:pPr>
              <a:lnSpc>
                <a:spcPct val="105000"/>
              </a:lnSpc>
              <a:spcAft>
                <a:spcPts val="200"/>
              </a:spcAft>
            </a:pPr>
            <a:r>
              <a:rPr sz="1800" b="1">
                <a:solidFill>
                  <a:srgbClr val="FFFFFF"/>
                </a:solidFill>
                <a:latin typeface="Arial"/>
              </a:rPr>
              <a:t>Live agents</a:t>
            </a:r>
          </a:p>
          <a:p>
            <a:pPr>
              <a:lnSpc>
                <a:spcPct val="105000"/>
              </a:lnSpc>
              <a:spcAft>
                <a:spcPts val="0"/>
              </a:spcAft>
            </a:pPr>
            <a:r>
              <a:rPr sz="1200" b="0">
                <a:solidFill>
                  <a:srgbClr val="8A9B98"/>
                </a:solidFill>
                <a:latin typeface="Arial"/>
              </a:rPr>
              <a:t>webmesh.ai</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640080"/>
            <a:ext cx="10545775" cy="2926080"/>
          </a:xfrm>
          <a:prstGeom prst="rect">
            <a:avLst/>
          </a:prstGeom>
          <a:noFill/>
        </p:spPr>
        <p:txBody>
          <a:bodyPr wrap="square">
            <a:spAutoFit/>
          </a:bodyPr>
          <a:lstStyle/>
          <a:p>
            <a:pPr>
              <a:lnSpc>
                <a:spcPct val="105000"/>
              </a:lnSpc>
              <a:spcAft>
                <a:spcPts val="1800"/>
              </a:spcAft>
            </a:pPr>
            <a:r>
              <a:rPr sz="6400" b="1">
                <a:solidFill>
                  <a:srgbClr val="FFFFFF"/>
                </a:solidFill>
                <a:latin typeface="Arial"/>
              </a:rPr>
              <a:t>What will your agents need to prove?</a:t>
            </a:r>
          </a:p>
          <a:p>
            <a:pPr>
              <a:lnSpc>
                <a:spcPct val="105000"/>
              </a:lnSpc>
              <a:spcAft>
                <a:spcPts val="0"/>
              </a:spcAft>
            </a:pPr>
            <a:r>
              <a:rPr sz="3400" b="0">
                <a:solidFill>
                  <a:srgbClr val="2DD3B8"/>
                </a:solidFill>
                <a:latin typeface="Arial"/>
              </a:rPr>
              <a:t>Questions. Architectures. Wild ideas.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2709a970-81b4-4def-bda1-d6eaeca57e6e}" enabled="1" method="Privileged" siteId="{d5f1622b-14a3-45a6-b069-003f8dc4851f}" contentBits="0" removed="0"/>
</clbl:labelList>
</file>

<file path=docProps/app.xml><?xml version="1.0" encoding="utf-8"?>
<Properties xmlns="http://schemas.openxmlformats.org/officeDocument/2006/extended-properties" xmlns:vt="http://schemas.openxmlformats.org/officeDocument/2006/docPropsVTypes">
  <TotalTime>4</TotalTime>
  <Words>1135</Words>
  <Application>Microsoft Macintosh PowerPoint</Application>
  <PresentationFormat>Widescreen</PresentationFormat>
  <Paragraphs>117</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Scott B. Courtney</cp:lastModifiedBy>
  <cp:revision>4</cp:revision>
  <dcterms:created xsi:type="dcterms:W3CDTF">2013-01-27T09:14:16Z</dcterms:created>
  <dcterms:modified xsi:type="dcterms:W3CDTF">2026-09-19T03:03:39Z</dcterms:modified>
  <cp:category/>
</cp:coreProperties>
</file>